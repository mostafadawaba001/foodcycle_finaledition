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59" r:id="rId4"/>
    <p:sldId id="260" r:id="rId5"/>
    <p:sldId id="264" r:id="rId6"/>
    <p:sldId id="270" r:id="rId7"/>
    <p:sldId id="271" r:id="rId8"/>
    <p:sldId id="272" r:id="rId9"/>
    <p:sldId id="274" r:id="rId10"/>
    <p:sldId id="273" r:id="rId11"/>
    <p:sldId id="275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B47546B-0D99-4A05-A70C-30C0BC5C1096}">
          <p14:sldIdLst>
            <p14:sldId id="256"/>
          </p14:sldIdLst>
        </p14:section>
        <p14:section name="Untitled Section" id="{BF53DFD5-DA92-4D40-904C-37414169C378}">
          <p14:sldIdLst>
            <p14:sldId id="269"/>
            <p14:sldId id="259"/>
            <p14:sldId id="260"/>
            <p14:sldId id="264"/>
            <p14:sldId id="270"/>
            <p14:sldId id="271"/>
            <p14:sldId id="272"/>
            <p14:sldId id="274"/>
            <p14:sldId id="273"/>
            <p14:sldId id="275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3696DF-925D-4009-A020-1CFD3F47818F}" type="doc">
      <dgm:prSet loTypeId="urn:microsoft.com/office/officeart/2024/3/layout/hArchList1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B4C88C8-03F4-44EE-9BCC-8D4DE326360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>
              <a:solidFill>
                <a:schemeClr val="accent3"/>
              </a:solidFill>
            </a:rPr>
            <a:t>Problem </a:t>
          </a:r>
          <a:r>
            <a:rPr lang="ar-EG" dirty="0">
              <a:solidFill>
                <a:schemeClr val="accent3"/>
              </a:solidFill>
            </a:rPr>
            <a:t>:</a:t>
          </a:r>
          <a:r>
            <a:rPr lang="en-US" dirty="0">
              <a:solidFill>
                <a:schemeClr val="accent3"/>
              </a:solidFill>
            </a:rPr>
            <a:t>​</a:t>
          </a:r>
        </a:p>
      </dgm:t>
    </dgm:pt>
    <dgm:pt modelId="{B26B242A-065E-4822-B8FF-899F589C3A93}" type="parTrans" cxnId="{8EE02B2F-7FE8-4AA1-9D23-6C81FAE792FA}">
      <dgm:prSet/>
      <dgm:spPr/>
      <dgm:t>
        <a:bodyPr/>
        <a:lstStyle/>
        <a:p>
          <a:endParaRPr lang="en-US"/>
        </a:p>
      </dgm:t>
    </dgm:pt>
    <dgm:pt modelId="{B94C4356-4EB7-42B4-8A23-73FD4FBD4B4D}" type="sibTrans" cxnId="{8EE02B2F-7FE8-4AA1-9D23-6C81FAE792FA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161A5C6F-EC6D-4C20-857B-1885C76C11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Huge food waste in restaurants/hotels vs. charities in need.​</a:t>
          </a:r>
        </a:p>
      </dgm:t>
    </dgm:pt>
    <dgm:pt modelId="{4A3F65DE-3FF3-4690-8491-FC8031AD40D5}" type="parTrans" cxnId="{C9FA408D-5E2C-4D49-A66D-F4B5E038B3E2}">
      <dgm:prSet/>
      <dgm:spPr/>
      <dgm:t>
        <a:bodyPr/>
        <a:lstStyle/>
        <a:p>
          <a:endParaRPr lang="en-US"/>
        </a:p>
      </dgm:t>
    </dgm:pt>
    <dgm:pt modelId="{A7646151-279B-4E0C-9692-A71843B3DC95}" type="sibTrans" cxnId="{C9FA408D-5E2C-4D49-A66D-F4B5E038B3E2}">
      <dgm:prSet/>
      <dgm:spPr/>
      <dgm:t>
        <a:bodyPr/>
        <a:lstStyle/>
        <a:p>
          <a:endParaRPr lang="en-US"/>
        </a:p>
      </dgm:t>
    </dgm:pt>
    <dgm:pt modelId="{569EFBE8-F8F5-4A1E-BC2E-E3E4E3825F5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>
              <a:solidFill>
                <a:schemeClr val="accent3"/>
              </a:solidFill>
            </a:rPr>
            <a:t>Solution</a:t>
          </a:r>
          <a:r>
            <a:rPr lang="ar-EG" dirty="0">
              <a:solidFill>
                <a:schemeClr val="accent3"/>
              </a:solidFill>
            </a:rPr>
            <a:t>:</a:t>
          </a:r>
          <a:endParaRPr lang="en-US" dirty="0">
            <a:solidFill>
              <a:schemeClr val="accent3"/>
            </a:solidFill>
          </a:endParaRPr>
        </a:p>
      </dgm:t>
    </dgm:pt>
    <dgm:pt modelId="{0C98F8D0-1F17-4E07-A7BC-9C260E9F39BA}" type="parTrans" cxnId="{489C7A9C-33A0-4B6B-BA0D-B74E33119064}">
      <dgm:prSet/>
      <dgm:spPr/>
      <dgm:t>
        <a:bodyPr/>
        <a:lstStyle/>
        <a:p>
          <a:endParaRPr lang="en-US"/>
        </a:p>
      </dgm:t>
    </dgm:pt>
    <dgm:pt modelId="{24BF5BFE-5E11-408C-B103-B92280DB5A19}" type="sibTrans" cxnId="{489C7A9C-33A0-4B6B-BA0D-B74E33119064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FE28FA80-8801-4AC8-874B-1740911A3C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C# Windows Forms app connecting providers and charities via an Admin safety gate.</a:t>
          </a:r>
        </a:p>
      </dgm:t>
    </dgm:pt>
    <dgm:pt modelId="{5256FEF4-8C48-4AA6-BFE9-7A5CB043B6E6}" type="parTrans" cxnId="{AF42AA07-C54F-4EDE-9F90-5591EA86A140}">
      <dgm:prSet/>
      <dgm:spPr/>
      <dgm:t>
        <a:bodyPr/>
        <a:lstStyle/>
        <a:p>
          <a:endParaRPr lang="en-US"/>
        </a:p>
      </dgm:t>
    </dgm:pt>
    <dgm:pt modelId="{4B4CD5A5-2D0C-409C-BCD3-4D34588D8665}" type="sibTrans" cxnId="{AF42AA07-C54F-4EDE-9F90-5591EA86A140}">
      <dgm:prSet/>
      <dgm:spPr/>
      <dgm:t>
        <a:bodyPr/>
        <a:lstStyle/>
        <a:p>
          <a:endParaRPr lang="en-US"/>
        </a:p>
      </dgm:t>
    </dgm:pt>
    <dgm:pt modelId="{D6CC196C-71CE-4206-89F6-B3C429854E2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>
              <a:solidFill>
                <a:schemeClr val="accent3"/>
              </a:solidFill>
            </a:rPr>
            <a:t>Key Features</a:t>
          </a:r>
          <a:r>
            <a:rPr lang="ar-EG" dirty="0">
              <a:solidFill>
                <a:schemeClr val="accent3"/>
              </a:solidFill>
            </a:rPr>
            <a:t>:</a:t>
          </a:r>
          <a:r>
            <a:rPr lang="en-US" dirty="0">
              <a:solidFill>
                <a:schemeClr val="accent3"/>
              </a:solidFill>
            </a:rPr>
            <a:t>​</a:t>
          </a:r>
        </a:p>
      </dgm:t>
    </dgm:pt>
    <dgm:pt modelId="{BF88AE03-1782-4155-A86B-37F79D6C3002}" type="parTrans" cxnId="{38BFD297-EFC1-4E48-BC2B-96F4CAE23A59}">
      <dgm:prSet/>
      <dgm:spPr/>
      <dgm:t>
        <a:bodyPr/>
        <a:lstStyle/>
        <a:p>
          <a:endParaRPr lang="en-US"/>
        </a:p>
      </dgm:t>
    </dgm:pt>
    <dgm:pt modelId="{F8B8E7D5-4BF6-4EFB-BEF8-7E16E7AD9AFC}" type="sibTrans" cxnId="{38BFD297-EFC1-4E48-BC2B-96F4CAE23A59}">
      <dgm:prSet/>
      <dgm:spPr/>
      <dgm:t>
        <a:bodyPr/>
        <a:lstStyle/>
        <a:p>
          <a:endParaRPr lang="en-US"/>
        </a:p>
      </dgm:t>
    </dgm:pt>
    <dgm:pt modelId="{D77290D4-3553-4C73-A2E2-70AE880339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C00000"/>
              </a:solidFill>
            </a:rPr>
            <a:t>OOP Structure:</a:t>
          </a:r>
          <a:r>
            <a:rPr lang="en-US" dirty="0">
              <a:solidFill>
                <a:srgbClr val="C00000"/>
              </a:solidFill>
            </a:rPr>
            <a:t> </a:t>
          </a:r>
          <a:r>
            <a:rPr lang="en-US" dirty="0"/>
            <a:t>Multi-user system (Admin, Provider, Charity).</a:t>
          </a:r>
        </a:p>
      </dgm:t>
    </dgm:pt>
    <dgm:pt modelId="{DF3E6E50-A4A9-4750-9D7C-551DEB00F5EB}" type="parTrans" cxnId="{455ABBCA-9F92-4960-9F0D-03BA13C821A1}">
      <dgm:prSet/>
      <dgm:spPr/>
      <dgm:t>
        <a:bodyPr/>
        <a:lstStyle/>
        <a:p>
          <a:endParaRPr lang="en-US"/>
        </a:p>
      </dgm:t>
    </dgm:pt>
    <dgm:pt modelId="{7AB7D10B-7018-4630-9747-E62E5E5BE552}" type="sibTrans" cxnId="{455ABBCA-9F92-4960-9F0D-03BA13C821A1}">
      <dgm:prSet/>
      <dgm:spPr/>
      <dgm:t>
        <a:bodyPr/>
        <a:lstStyle/>
        <a:p>
          <a:endParaRPr lang="en-US"/>
        </a:p>
      </dgm:t>
    </dgm:pt>
    <dgm:pt modelId="{2034CA42-433D-4EF0-98B7-67BE4063E1A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C00000"/>
              </a:solidFill>
            </a:rPr>
            <a:t>Safety Check:</a:t>
          </a:r>
          <a:r>
            <a:rPr lang="en-US" dirty="0">
              <a:solidFill>
                <a:srgbClr val="C00000"/>
              </a:solidFill>
            </a:rPr>
            <a:t> </a:t>
          </a:r>
          <a:r>
            <a:rPr lang="en-US" dirty="0"/>
            <a:t>Admin validation for all donations.</a:t>
          </a:r>
        </a:p>
      </dgm:t>
    </dgm:pt>
    <dgm:pt modelId="{021C5199-1669-4D16-AB81-FBA8F819F00C}" type="parTrans" cxnId="{A228CDCC-08DE-49CF-B0F7-1388D3A93CBB}">
      <dgm:prSet/>
      <dgm:spPr/>
      <dgm:t>
        <a:bodyPr/>
        <a:lstStyle/>
        <a:p>
          <a:endParaRPr lang="en-US"/>
        </a:p>
      </dgm:t>
    </dgm:pt>
    <dgm:pt modelId="{365D2A2C-7653-42D4-854D-D5A97575BB48}" type="sibTrans" cxnId="{A228CDCC-08DE-49CF-B0F7-1388D3A93CBB}">
      <dgm:prSet/>
      <dgm:spPr/>
      <dgm:t>
        <a:bodyPr/>
        <a:lstStyle/>
        <a:p>
          <a:endParaRPr lang="en-US"/>
        </a:p>
      </dgm:t>
    </dgm:pt>
    <dgm:pt modelId="{A9702C77-BFD2-4331-B9E0-BC438AB461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C00000"/>
              </a:solidFill>
            </a:rPr>
            <a:t>File Storage:</a:t>
          </a:r>
          <a:r>
            <a:rPr lang="en-US" dirty="0">
              <a:solidFill>
                <a:srgbClr val="C00000"/>
              </a:solidFill>
            </a:rPr>
            <a:t> </a:t>
          </a:r>
          <a:r>
            <a:rPr lang="en-US" dirty="0"/>
            <a:t>Saving data in files for persistence.</a:t>
          </a:r>
        </a:p>
      </dgm:t>
    </dgm:pt>
    <dgm:pt modelId="{BB249549-0567-4FD4-8699-C75F2BC5BDDB}" type="parTrans" cxnId="{136892E2-2474-4A0D-8DEB-FA34E7F8CFD5}">
      <dgm:prSet/>
      <dgm:spPr/>
      <dgm:t>
        <a:bodyPr/>
        <a:lstStyle/>
        <a:p>
          <a:endParaRPr lang="en-US"/>
        </a:p>
      </dgm:t>
    </dgm:pt>
    <dgm:pt modelId="{7E684681-BDC2-4943-8F4C-539B835DF116}" type="sibTrans" cxnId="{136892E2-2474-4A0D-8DEB-FA34E7F8CFD5}">
      <dgm:prSet/>
      <dgm:spPr/>
      <dgm:t>
        <a:bodyPr/>
        <a:lstStyle/>
        <a:p>
          <a:endParaRPr lang="en-US"/>
        </a:p>
      </dgm:t>
    </dgm:pt>
    <dgm:pt modelId="{D1946373-884D-45E9-A5ED-0899EA6CA985}" type="pres">
      <dgm:prSet presAssocID="{A73696DF-925D-4009-A020-1CFD3F47818F}" presName="Name0" presStyleCnt="0">
        <dgm:presLayoutVars>
          <dgm:dir/>
          <dgm:resizeHandles val="exact"/>
        </dgm:presLayoutVars>
      </dgm:prSet>
      <dgm:spPr/>
    </dgm:pt>
    <dgm:pt modelId="{014A9C2B-FE1A-46AE-A0D5-29172F9C3C1F}" type="pres">
      <dgm:prSet presAssocID="{FB4C88C8-03F4-44EE-9BCC-8D4DE3263607}" presName="compNode" presStyleCnt="0"/>
      <dgm:spPr/>
    </dgm:pt>
    <dgm:pt modelId="{90B0DAD2-25AA-4DE3-8523-9C09D8580C20}" type="pres">
      <dgm:prSet presAssocID="{FB4C88C8-03F4-44EE-9BCC-8D4DE3263607}" presName="pictRect" presStyleLbl="revTx" presStyleIdx="0" presStyleCnt="6">
        <dgm:presLayoutVars>
          <dgm:chMax val="0"/>
          <dgm:bulletEnabled/>
        </dgm:presLayoutVars>
      </dgm:prSet>
      <dgm:spPr/>
    </dgm:pt>
    <dgm:pt modelId="{08E13783-ECD0-4923-966B-6B74B99A8560}" type="pres">
      <dgm:prSet presAssocID="{FB4C88C8-03F4-44EE-9BCC-8D4DE3263607}" presName="textRect" presStyleLbl="revTx" presStyleIdx="1" presStyleCnt="6">
        <dgm:presLayoutVars>
          <dgm:bulletEnabled/>
        </dgm:presLayoutVars>
      </dgm:prSet>
      <dgm:spPr/>
    </dgm:pt>
    <dgm:pt modelId="{0A9874C6-CB28-4465-BAA0-A44194B8E417}" type="pres">
      <dgm:prSet presAssocID="{B94C4356-4EB7-42B4-8A23-73FD4FBD4B4D}" presName="sibTrans" presStyleLbl="sibTrans2D1" presStyleIdx="0" presStyleCnt="0"/>
      <dgm:spPr/>
    </dgm:pt>
    <dgm:pt modelId="{003B63E3-3416-49EA-84BB-B8596A28A94C}" type="pres">
      <dgm:prSet presAssocID="{569EFBE8-F8F5-4A1E-BC2E-E3E4E3825F5E}" presName="compNode" presStyleCnt="0"/>
      <dgm:spPr/>
    </dgm:pt>
    <dgm:pt modelId="{985D46D3-156A-40D5-93C1-945754CE22E8}" type="pres">
      <dgm:prSet presAssocID="{569EFBE8-F8F5-4A1E-BC2E-E3E4E3825F5E}" presName="pictRect" presStyleLbl="revTx" presStyleIdx="2" presStyleCnt="6">
        <dgm:presLayoutVars>
          <dgm:chMax val="0"/>
          <dgm:bulletEnabled/>
        </dgm:presLayoutVars>
      </dgm:prSet>
      <dgm:spPr/>
    </dgm:pt>
    <dgm:pt modelId="{930FA05D-98C4-4089-99E7-25CFF1B2FF94}" type="pres">
      <dgm:prSet presAssocID="{569EFBE8-F8F5-4A1E-BC2E-E3E4E3825F5E}" presName="textRect" presStyleLbl="revTx" presStyleIdx="3" presStyleCnt="6">
        <dgm:presLayoutVars>
          <dgm:bulletEnabled/>
        </dgm:presLayoutVars>
      </dgm:prSet>
      <dgm:spPr/>
    </dgm:pt>
    <dgm:pt modelId="{A0576ADE-9D35-42AC-B276-045AE5531B09}" type="pres">
      <dgm:prSet presAssocID="{24BF5BFE-5E11-408C-B103-B92280DB5A19}" presName="sibTrans" presStyleLbl="sibTrans2D1" presStyleIdx="0" presStyleCnt="0"/>
      <dgm:spPr/>
    </dgm:pt>
    <dgm:pt modelId="{3C3DFF4C-E8C1-45EA-A825-A71107083803}" type="pres">
      <dgm:prSet presAssocID="{D6CC196C-71CE-4206-89F6-B3C429854E29}" presName="compNode" presStyleCnt="0"/>
      <dgm:spPr/>
    </dgm:pt>
    <dgm:pt modelId="{E3EA5694-BB3F-4F34-81AD-998BB856F692}" type="pres">
      <dgm:prSet presAssocID="{D6CC196C-71CE-4206-89F6-B3C429854E29}" presName="pictRect" presStyleLbl="revTx" presStyleIdx="4" presStyleCnt="6">
        <dgm:presLayoutVars>
          <dgm:chMax val="0"/>
          <dgm:bulletEnabled/>
        </dgm:presLayoutVars>
      </dgm:prSet>
      <dgm:spPr/>
    </dgm:pt>
    <dgm:pt modelId="{3622488C-B7EC-4905-93E6-9969A1A20C4C}" type="pres">
      <dgm:prSet presAssocID="{D6CC196C-71CE-4206-89F6-B3C429854E29}" presName="textRect" presStyleLbl="revTx" presStyleIdx="5" presStyleCnt="6">
        <dgm:presLayoutVars>
          <dgm:bulletEnabled/>
        </dgm:presLayoutVars>
      </dgm:prSet>
      <dgm:spPr/>
    </dgm:pt>
  </dgm:ptLst>
  <dgm:cxnLst>
    <dgm:cxn modelId="{E077BF05-2A40-4D5C-890A-43ADB69C0C3B}" type="presOf" srcId="{A73696DF-925D-4009-A020-1CFD3F47818F}" destId="{D1946373-884D-45E9-A5ED-0899EA6CA985}" srcOrd="0" destOrd="0" presId="urn:microsoft.com/office/officeart/2024/3/layout/hArchList1"/>
    <dgm:cxn modelId="{AF42AA07-C54F-4EDE-9F90-5591EA86A140}" srcId="{569EFBE8-F8F5-4A1E-BC2E-E3E4E3825F5E}" destId="{FE28FA80-8801-4AC8-874B-1740911A3C25}" srcOrd="0" destOrd="0" parTransId="{5256FEF4-8C48-4AA6-BFE9-7A5CB043B6E6}" sibTransId="{4B4CD5A5-2D0C-409C-BCD3-4D34588D8665}"/>
    <dgm:cxn modelId="{8EE02B2F-7FE8-4AA1-9D23-6C81FAE792FA}" srcId="{A73696DF-925D-4009-A020-1CFD3F47818F}" destId="{FB4C88C8-03F4-44EE-9BCC-8D4DE3263607}" srcOrd="0" destOrd="0" parTransId="{B26B242A-065E-4822-B8FF-899F589C3A93}" sibTransId="{B94C4356-4EB7-42B4-8A23-73FD4FBD4B4D}"/>
    <dgm:cxn modelId="{1A286D42-0175-442D-90B7-6F2B5F6FE0D3}" type="presOf" srcId="{FE28FA80-8801-4AC8-874B-1740911A3C25}" destId="{930FA05D-98C4-4089-99E7-25CFF1B2FF94}" srcOrd="0" destOrd="0" presId="urn:microsoft.com/office/officeart/2024/3/layout/hArchList1"/>
    <dgm:cxn modelId="{8F42B651-9E63-4309-B9F2-2749D822EC08}" type="presOf" srcId="{B94C4356-4EB7-42B4-8A23-73FD4FBD4B4D}" destId="{0A9874C6-CB28-4465-BAA0-A44194B8E417}" srcOrd="0" destOrd="0" presId="urn:microsoft.com/office/officeart/2024/3/layout/hArchList1"/>
    <dgm:cxn modelId="{F98DE473-36C1-48CF-9FD8-409BBCC450D2}" type="presOf" srcId="{FB4C88C8-03F4-44EE-9BCC-8D4DE3263607}" destId="{90B0DAD2-25AA-4DE3-8523-9C09D8580C20}" srcOrd="0" destOrd="0" presId="urn:microsoft.com/office/officeart/2024/3/layout/hArchList1"/>
    <dgm:cxn modelId="{C9FA408D-5E2C-4D49-A66D-F4B5E038B3E2}" srcId="{FB4C88C8-03F4-44EE-9BCC-8D4DE3263607}" destId="{161A5C6F-EC6D-4C20-857B-1885C76C1180}" srcOrd="0" destOrd="0" parTransId="{4A3F65DE-3FF3-4690-8491-FC8031AD40D5}" sibTransId="{A7646151-279B-4E0C-9692-A71843B3DC95}"/>
    <dgm:cxn modelId="{38BFD297-EFC1-4E48-BC2B-96F4CAE23A59}" srcId="{A73696DF-925D-4009-A020-1CFD3F47818F}" destId="{D6CC196C-71CE-4206-89F6-B3C429854E29}" srcOrd="2" destOrd="0" parTransId="{BF88AE03-1782-4155-A86B-37F79D6C3002}" sibTransId="{F8B8E7D5-4BF6-4EFB-BEF8-7E16E7AD9AFC}"/>
    <dgm:cxn modelId="{489C7A9C-33A0-4B6B-BA0D-B74E33119064}" srcId="{A73696DF-925D-4009-A020-1CFD3F47818F}" destId="{569EFBE8-F8F5-4A1E-BC2E-E3E4E3825F5E}" srcOrd="1" destOrd="0" parTransId="{0C98F8D0-1F17-4E07-A7BC-9C260E9F39BA}" sibTransId="{24BF5BFE-5E11-408C-B103-B92280DB5A19}"/>
    <dgm:cxn modelId="{36B0739D-914C-43C0-A737-A3DAD388E624}" type="presOf" srcId="{D77290D4-3553-4C73-A2E2-70AE8803397A}" destId="{3622488C-B7EC-4905-93E6-9969A1A20C4C}" srcOrd="0" destOrd="0" presId="urn:microsoft.com/office/officeart/2024/3/layout/hArchList1"/>
    <dgm:cxn modelId="{A3F49DAB-86C3-409C-900A-E3CA878A7CE7}" type="presOf" srcId="{A9702C77-BFD2-4331-B9E0-BC438AB461FB}" destId="{3622488C-B7EC-4905-93E6-9969A1A20C4C}" srcOrd="0" destOrd="2" presId="urn:microsoft.com/office/officeart/2024/3/layout/hArchList1"/>
    <dgm:cxn modelId="{E54DC0AC-8CE5-4687-B5B3-E27870E3B2FA}" type="presOf" srcId="{2034CA42-433D-4EF0-98B7-67BE4063E1AA}" destId="{3622488C-B7EC-4905-93E6-9969A1A20C4C}" srcOrd="0" destOrd="1" presId="urn:microsoft.com/office/officeart/2024/3/layout/hArchList1"/>
    <dgm:cxn modelId="{2254DCB8-6669-45E4-87A4-1AED22B5E3C1}" type="presOf" srcId="{161A5C6F-EC6D-4C20-857B-1885C76C1180}" destId="{08E13783-ECD0-4923-966B-6B74B99A8560}" srcOrd="0" destOrd="0" presId="urn:microsoft.com/office/officeart/2024/3/layout/hArchList1"/>
    <dgm:cxn modelId="{1EF9CEBB-E124-455A-9172-9C95E53F39C0}" type="presOf" srcId="{24BF5BFE-5E11-408C-B103-B92280DB5A19}" destId="{A0576ADE-9D35-42AC-B276-045AE5531B09}" srcOrd="0" destOrd="0" presId="urn:microsoft.com/office/officeart/2024/3/layout/hArchList1"/>
    <dgm:cxn modelId="{455ABBCA-9F92-4960-9F0D-03BA13C821A1}" srcId="{D6CC196C-71CE-4206-89F6-B3C429854E29}" destId="{D77290D4-3553-4C73-A2E2-70AE8803397A}" srcOrd="0" destOrd="0" parTransId="{DF3E6E50-A4A9-4750-9D7C-551DEB00F5EB}" sibTransId="{7AB7D10B-7018-4630-9747-E62E5E5BE552}"/>
    <dgm:cxn modelId="{A228CDCC-08DE-49CF-B0F7-1388D3A93CBB}" srcId="{D6CC196C-71CE-4206-89F6-B3C429854E29}" destId="{2034CA42-433D-4EF0-98B7-67BE4063E1AA}" srcOrd="1" destOrd="0" parTransId="{021C5199-1669-4D16-AB81-FBA8F819F00C}" sibTransId="{365D2A2C-7653-42D4-854D-D5A97575BB48}"/>
    <dgm:cxn modelId="{7102ACD2-208C-4671-8B2C-E455D5400F79}" type="presOf" srcId="{D6CC196C-71CE-4206-89F6-B3C429854E29}" destId="{E3EA5694-BB3F-4F34-81AD-998BB856F692}" srcOrd="0" destOrd="0" presId="urn:microsoft.com/office/officeart/2024/3/layout/hArchList1"/>
    <dgm:cxn modelId="{136892E2-2474-4A0D-8DEB-FA34E7F8CFD5}" srcId="{D6CC196C-71CE-4206-89F6-B3C429854E29}" destId="{A9702C77-BFD2-4331-B9E0-BC438AB461FB}" srcOrd="2" destOrd="0" parTransId="{BB249549-0567-4FD4-8699-C75F2BC5BDDB}" sibTransId="{7E684681-BDC2-4943-8F4C-539B835DF116}"/>
    <dgm:cxn modelId="{B6CF13FB-B3BD-4E79-A764-EB202ACBF780}" type="presOf" srcId="{569EFBE8-F8F5-4A1E-BC2E-E3E4E3825F5E}" destId="{985D46D3-156A-40D5-93C1-945754CE22E8}" srcOrd="0" destOrd="0" presId="urn:microsoft.com/office/officeart/2024/3/layout/hArchList1"/>
    <dgm:cxn modelId="{A89174D4-EBC1-4E0E-8B96-CA39AB1A4A2A}" type="presParOf" srcId="{D1946373-884D-45E9-A5ED-0899EA6CA985}" destId="{014A9C2B-FE1A-46AE-A0D5-29172F9C3C1F}" srcOrd="0" destOrd="0" presId="urn:microsoft.com/office/officeart/2024/3/layout/hArchList1"/>
    <dgm:cxn modelId="{8867836C-F08F-4C70-BE2D-34E316876188}" type="presParOf" srcId="{014A9C2B-FE1A-46AE-A0D5-29172F9C3C1F}" destId="{90B0DAD2-25AA-4DE3-8523-9C09D8580C20}" srcOrd="0" destOrd="0" presId="urn:microsoft.com/office/officeart/2024/3/layout/hArchList1"/>
    <dgm:cxn modelId="{D4C0CA13-4C60-4C94-8C2E-3D965D9D1EB8}" type="presParOf" srcId="{014A9C2B-FE1A-46AE-A0D5-29172F9C3C1F}" destId="{08E13783-ECD0-4923-966B-6B74B99A8560}" srcOrd="1" destOrd="0" presId="urn:microsoft.com/office/officeart/2024/3/layout/hArchList1"/>
    <dgm:cxn modelId="{576E9E02-3AC0-424B-AA3F-428A5082CA3A}" type="presParOf" srcId="{D1946373-884D-45E9-A5ED-0899EA6CA985}" destId="{0A9874C6-CB28-4465-BAA0-A44194B8E417}" srcOrd="1" destOrd="0" presId="urn:microsoft.com/office/officeart/2024/3/layout/hArchList1"/>
    <dgm:cxn modelId="{2BD668D6-FF7C-4491-A003-3DA87901C581}" type="presParOf" srcId="{D1946373-884D-45E9-A5ED-0899EA6CA985}" destId="{003B63E3-3416-49EA-84BB-B8596A28A94C}" srcOrd="2" destOrd="0" presId="urn:microsoft.com/office/officeart/2024/3/layout/hArchList1"/>
    <dgm:cxn modelId="{E9205B18-8E9D-44D9-A8A9-B641D360A138}" type="presParOf" srcId="{003B63E3-3416-49EA-84BB-B8596A28A94C}" destId="{985D46D3-156A-40D5-93C1-945754CE22E8}" srcOrd="0" destOrd="0" presId="urn:microsoft.com/office/officeart/2024/3/layout/hArchList1"/>
    <dgm:cxn modelId="{66B8D74F-D298-4DF0-B181-AB34DDBF521C}" type="presParOf" srcId="{003B63E3-3416-49EA-84BB-B8596A28A94C}" destId="{930FA05D-98C4-4089-99E7-25CFF1B2FF94}" srcOrd="1" destOrd="0" presId="urn:microsoft.com/office/officeart/2024/3/layout/hArchList1"/>
    <dgm:cxn modelId="{567523E8-EC4E-417E-8C11-7B851B5ED928}" type="presParOf" srcId="{D1946373-884D-45E9-A5ED-0899EA6CA985}" destId="{A0576ADE-9D35-42AC-B276-045AE5531B09}" srcOrd="3" destOrd="0" presId="urn:microsoft.com/office/officeart/2024/3/layout/hArchList1"/>
    <dgm:cxn modelId="{1007BECC-5D0C-4E62-AAEE-218D55690446}" type="presParOf" srcId="{D1946373-884D-45E9-A5ED-0899EA6CA985}" destId="{3C3DFF4C-E8C1-45EA-A825-A71107083803}" srcOrd="4" destOrd="0" presId="urn:microsoft.com/office/officeart/2024/3/layout/hArchList1"/>
    <dgm:cxn modelId="{979E6085-E789-48A2-9A13-7768C1B315D0}" type="presParOf" srcId="{3C3DFF4C-E8C1-45EA-A825-A71107083803}" destId="{E3EA5694-BB3F-4F34-81AD-998BB856F692}" srcOrd="0" destOrd="0" presId="urn:microsoft.com/office/officeart/2024/3/layout/hArchList1"/>
    <dgm:cxn modelId="{19CB54F0-4E84-47E2-B286-A87D57518818}" type="presParOf" srcId="{3C3DFF4C-E8C1-45EA-A825-A71107083803}" destId="{3622488C-B7EC-4905-93E6-9969A1A20C4C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B0DAD2-25AA-4DE3-8523-9C09D8580C20}">
      <dsp:nvSpPr>
        <dsp:cNvPr id="0" name=""/>
        <dsp:cNvSpPr/>
      </dsp:nvSpPr>
      <dsp:spPr>
        <a:xfrm>
          <a:off x="0" y="0"/>
          <a:ext cx="3265249" cy="350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solidFill>
                <a:schemeClr val="accent3"/>
              </a:solidFill>
            </a:rPr>
            <a:t>Problem </a:t>
          </a:r>
          <a:r>
            <a:rPr lang="ar-EG" sz="1800" kern="1200" dirty="0">
              <a:solidFill>
                <a:schemeClr val="accent3"/>
              </a:solidFill>
            </a:rPr>
            <a:t>:</a:t>
          </a:r>
          <a:r>
            <a:rPr lang="en-US" sz="1800" kern="1200" dirty="0">
              <a:solidFill>
                <a:schemeClr val="accent3"/>
              </a:solidFill>
            </a:rPr>
            <a:t>​</a:t>
          </a:r>
        </a:p>
      </dsp:txBody>
      <dsp:txXfrm>
        <a:off x="0" y="0"/>
        <a:ext cx="3265249" cy="350552"/>
      </dsp:txXfrm>
    </dsp:sp>
    <dsp:sp modelId="{08E13783-ECD0-4923-966B-6B74B99A8560}">
      <dsp:nvSpPr>
        <dsp:cNvPr id="0" name=""/>
        <dsp:cNvSpPr/>
      </dsp:nvSpPr>
      <dsp:spPr>
        <a:xfrm>
          <a:off x="0" y="350552"/>
          <a:ext cx="3265249" cy="2142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Huge food waste in restaurants/hotels vs. charities in need.​</a:t>
          </a:r>
        </a:p>
      </dsp:txBody>
      <dsp:txXfrm>
        <a:off x="0" y="350552"/>
        <a:ext cx="3265249" cy="2142584"/>
      </dsp:txXfrm>
    </dsp:sp>
    <dsp:sp modelId="{985D46D3-156A-40D5-93C1-945754CE22E8}">
      <dsp:nvSpPr>
        <dsp:cNvPr id="0" name=""/>
        <dsp:cNvSpPr/>
      </dsp:nvSpPr>
      <dsp:spPr>
        <a:xfrm>
          <a:off x="3591774" y="0"/>
          <a:ext cx="3265249" cy="350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solidFill>
                <a:schemeClr val="accent3"/>
              </a:solidFill>
            </a:rPr>
            <a:t>Solution</a:t>
          </a:r>
          <a:r>
            <a:rPr lang="ar-EG" sz="1800" kern="1200" dirty="0">
              <a:solidFill>
                <a:schemeClr val="accent3"/>
              </a:solidFill>
            </a:rPr>
            <a:t>:</a:t>
          </a:r>
          <a:endParaRPr lang="en-US" sz="1800" kern="1200" dirty="0">
            <a:solidFill>
              <a:schemeClr val="accent3"/>
            </a:solidFill>
          </a:endParaRPr>
        </a:p>
      </dsp:txBody>
      <dsp:txXfrm>
        <a:off x="3591774" y="0"/>
        <a:ext cx="3265249" cy="350552"/>
      </dsp:txXfrm>
    </dsp:sp>
    <dsp:sp modelId="{930FA05D-98C4-4089-99E7-25CFF1B2FF94}">
      <dsp:nvSpPr>
        <dsp:cNvPr id="0" name=""/>
        <dsp:cNvSpPr/>
      </dsp:nvSpPr>
      <dsp:spPr>
        <a:xfrm>
          <a:off x="3591774" y="350552"/>
          <a:ext cx="3265249" cy="2142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C# Windows Forms app connecting providers and charities via an Admin safety gate.</a:t>
          </a:r>
        </a:p>
      </dsp:txBody>
      <dsp:txXfrm>
        <a:off x="3591774" y="350552"/>
        <a:ext cx="3265249" cy="2142584"/>
      </dsp:txXfrm>
    </dsp:sp>
    <dsp:sp modelId="{E3EA5694-BB3F-4F34-81AD-998BB856F692}">
      <dsp:nvSpPr>
        <dsp:cNvPr id="0" name=""/>
        <dsp:cNvSpPr/>
      </dsp:nvSpPr>
      <dsp:spPr>
        <a:xfrm>
          <a:off x="7183548" y="0"/>
          <a:ext cx="3265249" cy="350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solidFill>
                <a:schemeClr val="accent3"/>
              </a:solidFill>
            </a:rPr>
            <a:t>Key Features</a:t>
          </a:r>
          <a:r>
            <a:rPr lang="ar-EG" sz="1800" kern="1200" dirty="0">
              <a:solidFill>
                <a:schemeClr val="accent3"/>
              </a:solidFill>
            </a:rPr>
            <a:t>:</a:t>
          </a:r>
          <a:r>
            <a:rPr lang="en-US" sz="1800" kern="1200" dirty="0">
              <a:solidFill>
                <a:schemeClr val="accent3"/>
              </a:solidFill>
            </a:rPr>
            <a:t>​</a:t>
          </a:r>
        </a:p>
      </dsp:txBody>
      <dsp:txXfrm>
        <a:off x="7183548" y="0"/>
        <a:ext cx="3265249" cy="350552"/>
      </dsp:txXfrm>
    </dsp:sp>
    <dsp:sp modelId="{3622488C-B7EC-4905-93E6-9969A1A20C4C}">
      <dsp:nvSpPr>
        <dsp:cNvPr id="0" name=""/>
        <dsp:cNvSpPr/>
      </dsp:nvSpPr>
      <dsp:spPr>
        <a:xfrm>
          <a:off x="7183548" y="350552"/>
          <a:ext cx="3265249" cy="21425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C00000"/>
              </a:solidFill>
            </a:rPr>
            <a:t>OOP Structure:</a:t>
          </a:r>
          <a:r>
            <a:rPr lang="en-US" sz="1400" kern="1200" dirty="0">
              <a:solidFill>
                <a:srgbClr val="C00000"/>
              </a:solidFill>
            </a:rPr>
            <a:t> </a:t>
          </a:r>
          <a:r>
            <a:rPr lang="en-US" sz="1400" kern="1200" dirty="0"/>
            <a:t>Multi-user system (Admin, Provider, Charity).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C00000"/>
              </a:solidFill>
            </a:rPr>
            <a:t>Safety Check:</a:t>
          </a:r>
          <a:r>
            <a:rPr lang="en-US" sz="1400" kern="1200" dirty="0">
              <a:solidFill>
                <a:srgbClr val="C00000"/>
              </a:solidFill>
            </a:rPr>
            <a:t> </a:t>
          </a:r>
          <a:r>
            <a:rPr lang="en-US" sz="1400" kern="1200" dirty="0"/>
            <a:t>Admin validation for all donations.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rgbClr val="C00000"/>
              </a:solidFill>
            </a:rPr>
            <a:t>File Storage:</a:t>
          </a:r>
          <a:r>
            <a:rPr lang="en-US" sz="1400" kern="1200" dirty="0">
              <a:solidFill>
                <a:srgbClr val="C00000"/>
              </a:solidFill>
            </a:rPr>
            <a:t> </a:t>
          </a:r>
          <a:r>
            <a:rPr lang="en-US" sz="1400" kern="1200" dirty="0"/>
            <a:t>Saving data in files for persistence.</a:t>
          </a:r>
        </a:p>
      </dsp:txBody>
      <dsp:txXfrm>
        <a:off x="7183548" y="350552"/>
        <a:ext cx="3265249" cy="21425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0428EC-5EE8-4340-A429-EB932EF9042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F23F2-7D5C-4555-9A7E-CC0107107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62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F23F2-7D5C-4555-9A7E-CC0107107B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107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F23F2-7D5C-4555-9A7E-CC0107107B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34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35036-229F-C462-7366-71AE3CE80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96A66F-E36C-DA7B-00C7-CA8D8D761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6C77D-115F-1F40-AB59-B694D0B03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EF5-C335-44F0-80F9-99BE715479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2BB71-C1B8-4B28-9B95-126A24C12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E9AAD-2ABF-7675-97F1-6B239F364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76B99-A715-4CE1-A20A-70A4830B1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05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88E1-010C-1629-DF5C-497724283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EF103-8BCE-F3AD-D741-4F5FCDB0D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750C5-1498-C467-DAD5-785D90933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EF5-C335-44F0-80F9-99BE715479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257C3-723B-D2D3-F06C-79B00CCFE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497CB-471D-0C23-354E-9E251A24B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76B99-A715-4CE1-A20A-70A4830B1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3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73F9F-B1A2-2AE8-3CA8-6DC4B39F5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4B4AA-688B-78FE-8DBD-0884D9AA1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EE5F3-2651-5FF4-E6F2-56981975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EF5-C335-44F0-80F9-99BE715479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4FD35-CB38-10EA-2936-1C3D3320D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7E6FB-BE4D-153E-06DF-AF23D832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76B99-A715-4CE1-A20A-70A4830B1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38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DFCB9-6B4E-7619-42E6-8E8F3E397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364A6-D3EF-8B63-83E8-F90022367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84FD9-A323-5A77-5F8A-8A4D81C66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A034B-0D6E-7235-E273-38324E9C3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EF5-C335-44F0-80F9-99BE715479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CD97C-6347-26D8-40F5-0C1BBD118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C0467-90BC-8A5D-492C-29622FC9A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76B99-A715-4CE1-A20A-70A4830B1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6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31DA2-9724-BE4D-794F-FE321219A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895A7-C010-4615-7E11-243D0BB42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BE31A-5323-63F6-377C-BF44BDB76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0B26BE-4A86-FBB8-EB31-13E44B585A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F66B3-9D72-B9AE-F143-529A53F5E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77875-7285-FED5-BB13-A21BDF4ED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EF5-C335-44F0-80F9-99BE715479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CEE7C0-6170-C0AD-D66E-7F4F52D84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20421F-46D7-4FF8-4FD1-B5E4E90EB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76B99-A715-4CE1-A20A-70A4830B1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61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98F1-26EC-A7ED-3AB4-C81BC3F4F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A31BB-6787-E7BE-E14A-856C8BC44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EF5-C335-44F0-80F9-99BE715479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195D9-61B5-F22D-D31A-123A04C72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F0139-B255-66D7-9E9A-8AEE675E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76B99-A715-4CE1-A20A-70A4830B1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87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E3D46F-0ACE-55D3-9609-97783543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EF5-C335-44F0-80F9-99BE715479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63A00E-18EE-0BE3-43E6-1B7159A74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AB0F1-53A1-9B5A-3D66-4FA79F0BD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76B99-A715-4CE1-A20A-70A4830B1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22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CAC45-482A-6E59-B823-A0BC04B65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80DE2-D1E0-CEC3-BB80-69193F0B2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8238C-597E-1FC0-8E21-72B85F693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4B014-7BD6-261C-C30A-230562110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EF5-C335-44F0-80F9-99BE715479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F7CCA-43AC-052A-D0DA-39C25B8E7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E3447-A0EE-55FE-F174-E7F801306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76B99-A715-4CE1-A20A-70A4830B1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728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B6C4-4C8B-4845-3CDC-6DF69082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F16019-032E-67E2-859A-4B4C811740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11A50-4A3F-AEFB-C883-A36B9B452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84A0C-84B9-7ADF-BBE6-6FCD2EF41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EF5-C335-44F0-80F9-99BE715479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83E6B-0B54-E2B9-6B5A-1C3EBD071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8C766-34F8-C5A0-4B21-72E83864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76B99-A715-4CE1-A20A-70A4830B1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52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D3B2F-8324-E435-279B-668A699E5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485E70-9E0C-2DFC-9319-CDAB20CE8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AC88F-B8ED-F06D-D795-8C01F37B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EF5-C335-44F0-80F9-99BE715479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B1E66-2EEB-7F49-D0D5-553826D5C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DA788-4DBF-50BE-7556-810AF131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76B99-A715-4CE1-A20A-70A4830B1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46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D4E1CF-DD1F-C8D9-738A-297C9B6A4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6086F2-4F02-B880-FF40-E01101579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45D80-87BE-C904-6492-44242521C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63EF5-C335-44F0-80F9-99BE715479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F6F97-124F-D582-2F49-DACA96D44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8F7A7-FD36-33AB-F999-3BB23F06E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76B99-A715-4CE1-A20A-70A4830B1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98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BD9505-8DD5-097F-6FE9-40695099D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5E6FD-99E1-154F-1CAD-3CF587B8E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C1F66-C348-F4AD-F88B-6562A16054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863EF5-C335-44F0-80F9-99BE715479C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D2C73-8AD8-23B3-EEBE-BCB63102D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D49FD-B7B2-9C3A-C3BB-1A3B724B5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76B99-A715-4CE1-A20A-70A4830B1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09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E3D3A-8DC0-DDE4-A73B-01FF3F05F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3" b="2055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209C3B-C306-37E6-FD07-B0A81A46E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8559" y="3158001"/>
            <a:ext cx="4180398" cy="1006475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dirty="0">
                <a:solidFill>
                  <a:schemeClr val="accent2">
                    <a:lumMod val="50000"/>
                  </a:schemeClr>
                </a:solidFill>
                <a:latin typeface="Cooper Black" panose="0208090404030B020404" pitchFamily="18" charset="0"/>
              </a:rPr>
              <a:t>Food Cycle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D1470-E0B5-0F49-5198-DBE7840AB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24631" y="4202707"/>
            <a:ext cx="2268919" cy="482516"/>
          </a:xfrm>
          <a:noFill/>
        </p:spPr>
        <p:txBody>
          <a:bodyPr>
            <a:normAutofit/>
          </a:bodyPr>
          <a:lstStyle/>
          <a:p>
            <a:pPr algn="r"/>
            <a:r>
              <a:rPr lang="ar-EG" b="1" dirty="0">
                <a:solidFill>
                  <a:schemeClr val="accent2">
                    <a:lumMod val="50000"/>
                  </a:schemeClr>
                </a:solidFill>
                <a:cs typeface="Diwani Outline Shaded" panose="02010400000000000000" pitchFamily="2" charset="-78"/>
              </a:rPr>
              <a:t>إعادة تدوير الطعام</a:t>
            </a:r>
            <a:endParaRPr lang="en-US" b="1" dirty="0">
              <a:solidFill>
                <a:schemeClr val="accent2">
                  <a:lumMod val="50000"/>
                </a:schemeClr>
              </a:solidFill>
              <a:cs typeface="Diwani Outline Shaded" panose="020104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EDCA72-3F26-2038-E734-03D7102D6E7B}"/>
              </a:ext>
            </a:extLst>
          </p:cNvPr>
          <p:cNvSpPr txBox="1"/>
          <p:nvPr/>
        </p:nvSpPr>
        <p:spPr>
          <a:xfrm>
            <a:off x="8458559" y="5729929"/>
            <a:ext cx="3169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oper Black" panose="0208090404030B020404" pitchFamily="18" charset="0"/>
              </a:rPr>
              <a:t>OOP Project</a:t>
            </a:r>
            <a:r>
              <a:rPr lang="ar-EG" dirty="0">
                <a:solidFill>
                  <a:schemeClr val="accent6">
                    <a:lumMod val="50000"/>
                  </a:schemeClr>
                </a:solidFill>
                <a:latin typeface="Cooper Black" panose="0208090404030B020404" pitchFamily="18" charset="0"/>
              </a:rPr>
              <a:t> </a:t>
            </a:r>
            <a:br>
              <a:rPr lang="ar-EG" dirty="0">
                <a:solidFill>
                  <a:schemeClr val="accent6">
                    <a:lumMod val="50000"/>
                  </a:schemeClr>
                </a:solidFill>
                <a:latin typeface="Cooper Black" panose="0208090404030B020404" pitchFamily="18" charset="0"/>
              </a:rPr>
            </a:b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oper Black" panose="0208090404030B020404" pitchFamily="18" charset="0"/>
              </a:rPr>
              <a:t>year: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7A2DD0-EEB4-72F7-6111-A5F1812E1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8501" y="61478"/>
            <a:ext cx="1847491" cy="184749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9444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1C1E0-7EAD-55EA-2048-4ED3073E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CDECA64-EF19-C669-9EF0-38CD31434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40B63-3120-9AAF-410A-0EA5E984B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0722" y="604317"/>
            <a:ext cx="5412671" cy="883245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oper Black" panose="0208090404030B020404" pitchFamily="18" charset="0"/>
              </a:rPr>
              <a:t>        Professors: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F17652A4-8F70-26EC-D014-E1AEDDEC2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AD7EEA1-1868-52D7-F33D-DBF0532AFF39}"/>
              </a:ext>
            </a:extLst>
          </p:cNvPr>
          <p:cNvSpPr txBox="1">
            <a:spLocks/>
          </p:cNvSpPr>
          <p:nvPr/>
        </p:nvSpPr>
        <p:spPr>
          <a:xfrm>
            <a:off x="968051" y="568667"/>
            <a:ext cx="5412671" cy="8832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E97132">
                    <a:lumMod val="50000"/>
                  </a:srgbClr>
                </a:solidFill>
                <a:latin typeface="Cooper Black" panose="0208090404030B020404" pitchFamily="18" charset="0"/>
              </a:rPr>
              <a:t>Team Members:</a:t>
            </a:r>
            <a:endParaRPr lang="en-US" sz="5400" dirty="0">
              <a:solidFill>
                <a:schemeClr val="accent2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AFD90CD-B1C9-A486-C6C5-BA0CEAF43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9202" y="2107146"/>
            <a:ext cx="5181600" cy="3248025"/>
          </a:xfrm>
        </p:spPr>
        <p:txBody>
          <a:bodyPr>
            <a:normAutofit/>
          </a:bodyPr>
          <a:lstStyle/>
          <a:p>
            <a:pPr algn="r" rtl="1"/>
            <a:r>
              <a:rPr lang="ar-EG" dirty="0">
                <a:latin typeface="Aldhabi" panose="01000000000000000000" pitchFamily="2" charset="-78"/>
                <a:cs typeface="Aldhabi" panose="01000000000000000000" pitchFamily="2" charset="-78"/>
              </a:rPr>
              <a:t>ملك شريف المتولي </a:t>
            </a:r>
          </a:p>
          <a:p>
            <a:pPr algn="r" rtl="1"/>
            <a:r>
              <a:rPr lang="ar-EG" dirty="0">
                <a:latin typeface="Aldhabi" panose="01000000000000000000" pitchFamily="2" charset="-78"/>
                <a:cs typeface="Aldhabi" panose="01000000000000000000" pitchFamily="2" charset="-78"/>
              </a:rPr>
              <a:t>ملك عبدالعظيم أبو المجد</a:t>
            </a:r>
          </a:p>
          <a:p>
            <a:pPr algn="r" rtl="1"/>
            <a:r>
              <a:rPr lang="ar-EG" dirty="0">
                <a:latin typeface="Aldhabi" panose="01000000000000000000" pitchFamily="2" charset="-78"/>
                <a:cs typeface="Aldhabi" panose="01000000000000000000" pitchFamily="2" charset="-78"/>
              </a:rPr>
              <a:t>هاجر إبراهيم محمد </a:t>
            </a:r>
          </a:p>
          <a:p>
            <a:pPr algn="r" rtl="1"/>
            <a:r>
              <a:rPr lang="ar-EG" dirty="0">
                <a:latin typeface="Aldhabi" panose="01000000000000000000" pitchFamily="2" charset="-78"/>
                <a:cs typeface="Aldhabi" panose="01000000000000000000" pitchFamily="2" charset="-78"/>
              </a:rPr>
              <a:t>معاذ هشام داود</a:t>
            </a:r>
          </a:p>
          <a:p>
            <a:pPr algn="r" rtl="1"/>
            <a:r>
              <a:rPr lang="ar-EG" dirty="0">
                <a:latin typeface="Aldhabi" panose="01000000000000000000" pitchFamily="2" charset="-78"/>
                <a:cs typeface="Aldhabi" panose="01000000000000000000" pitchFamily="2" charset="-78"/>
              </a:rPr>
              <a:t>مصطفى علاء الدين سعد</a:t>
            </a:r>
          </a:p>
          <a:p>
            <a:pPr algn="r" rtl="1"/>
            <a:r>
              <a:rPr lang="ar-EG" dirty="0">
                <a:latin typeface="Aldhabi" panose="01000000000000000000" pitchFamily="2" charset="-78"/>
                <a:cs typeface="Aldhabi" panose="01000000000000000000" pitchFamily="2" charset="-78"/>
              </a:rPr>
              <a:t>مصطفى اسعد دوابه</a:t>
            </a:r>
            <a:endParaRPr lang="en-US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1714373-C426-1D34-17C0-5D6A1F7E3245}"/>
              </a:ext>
            </a:extLst>
          </p:cNvPr>
          <p:cNvSpPr txBox="1">
            <a:spLocks/>
          </p:cNvSpPr>
          <p:nvPr/>
        </p:nvSpPr>
        <p:spPr>
          <a:xfrm>
            <a:off x="6386948" y="2107146"/>
            <a:ext cx="4432300" cy="3248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EG" dirty="0">
                <a:latin typeface="Aldhabi" panose="01000000000000000000" pitchFamily="2" charset="-78"/>
                <a:cs typeface="Aldhabi" panose="01000000000000000000" pitchFamily="2" charset="-78"/>
              </a:rPr>
              <a:t>أ.د</a:t>
            </a:r>
            <a:r>
              <a:rPr lang="en-US" dirty="0">
                <a:latin typeface="Aldhabi" panose="01000000000000000000" pitchFamily="2" charset="-78"/>
                <a:cs typeface="Aldhabi" panose="01000000000000000000" pitchFamily="2" charset="-78"/>
              </a:rPr>
              <a:t>/</a:t>
            </a:r>
            <a:r>
              <a:rPr lang="ar-EG" dirty="0">
                <a:latin typeface="Aldhabi" panose="01000000000000000000" pitchFamily="2" charset="-78"/>
                <a:cs typeface="Aldhabi" panose="01000000000000000000" pitchFamily="2" charset="-78"/>
              </a:rPr>
              <a:t> محمد أبو السعود</a:t>
            </a:r>
          </a:p>
          <a:p>
            <a:pPr algn="r" rtl="1"/>
            <a:r>
              <a:rPr lang="ar-EG" dirty="0">
                <a:latin typeface="Aldhabi" panose="01000000000000000000" pitchFamily="2" charset="-78"/>
                <a:cs typeface="Aldhabi" panose="01000000000000000000" pitchFamily="2" charset="-78"/>
              </a:rPr>
              <a:t>أ.م. د/ سارة المتولي</a:t>
            </a:r>
          </a:p>
          <a:p>
            <a:pPr algn="r" rtl="1"/>
            <a:r>
              <a:rPr lang="ar-EG" dirty="0">
                <a:latin typeface="Aldhabi" panose="01000000000000000000" pitchFamily="2" charset="-78"/>
                <a:cs typeface="Aldhabi" panose="01000000000000000000" pitchFamily="2" charset="-78"/>
              </a:rPr>
              <a:t>د/ محمد حجاج</a:t>
            </a:r>
          </a:p>
          <a:p>
            <a:pPr algn="r" rtl="1"/>
            <a:r>
              <a:rPr lang="ar-EG" dirty="0">
                <a:latin typeface="Aldhabi" panose="01000000000000000000" pitchFamily="2" charset="-78"/>
                <a:cs typeface="Aldhabi" panose="01000000000000000000" pitchFamily="2" charset="-78"/>
              </a:rPr>
              <a:t>د/ محمد </a:t>
            </a:r>
            <a:r>
              <a:rPr lang="ar-EG" dirty="0" err="1">
                <a:latin typeface="Aldhabi" panose="01000000000000000000" pitchFamily="2" charset="-78"/>
                <a:cs typeface="Aldhabi" panose="01000000000000000000" pitchFamily="2" charset="-78"/>
              </a:rPr>
              <a:t>حندوسه</a:t>
            </a:r>
            <a:endParaRPr lang="ar-EG" dirty="0">
              <a:latin typeface="Aldhabi" panose="01000000000000000000" pitchFamily="2" charset="-78"/>
              <a:cs typeface="Aldhabi" panose="01000000000000000000" pitchFamily="2" charset="-78"/>
            </a:endParaRPr>
          </a:p>
          <a:p>
            <a:pPr algn="r" rtl="1"/>
            <a:r>
              <a:rPr lang="ar-EG" dirty="0">
                <a:latin typeface="Aldhabi" panose="01000000000000000000" pitchFamily="2" charset="-78"/>
                <a:cs typeface="Aldhabi" panose="01000000000000000000" pitchFamily="2" charset="-78"/>
              </a:rPr>
              <a:t>د/ وليد </a:t>
            </a:r>
            <a:r>
              <a:rPr lang="ar-EG" dirty="0" err="1">
                <a:latin typeface="Aldhabi" panose="01000000000000000000" pitchFamily="2" charset="-78"/>
                <a:cs typeface="Aldhabi" panose="01000000000000000000" pitchFamily="2" charset="-78"/>
              </a:rPr>
              <a:t>العدروسى</a:t>
            </a:r>
            <a:endParaRPr lang="en-US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DB8C3C1-7B9E-AD6C-1DF2-AE8F30AA1A0E}"/>
              </a:ext>
            </a:extLst>
          </p:cNvPr>
          <p:cNvSpPr txBox="1">
            <a:spLocks/>
          </p:cNvSpPr>
          <p:nvPr/>
        </p:nvSpPr>
        <p:spPr>
          <a:xfrm>
            <a:off x="572493" y="5249248"/>
            <a:ext cx="46164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oper Black" panose="0208090404030B020404" pitchFamily="18" charset="0"/>
              </a:rPr>
              <a:t>  Instructor: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2D8733-3D1B-00A3-C1D6-C27F528EA4FD}"/>
              </a:ext>
            </a:extLst>
          </p:cNvPr>
          <p:cNvSpPr txBox="1">
            <a:spLocks/>
          </p:cNvSpPr>
          <p:nvPr/>
        </p:nvSpPr>
        <p:spPr>
          <a:xfrm>
            <a:off x="7003059" y="5614156"/>
            <a:ext cx="4432300" cy="595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ar-EG" dirty="0">
                <a:latin typeface="Aldhabi" panose="01000000000000000000" pitchFamily="2" charset="-78"/>
                <a:cs typeface="Aldhabi" panose="01000000000000000000" pitchFamily="2" charset="-78"/>
              </a:rPr>
              <a:t>م</a:t>
            </a:r>
            <a:r>
              <a:rPr lang="en-US" dirty="0">
                <a:latin typeface="Aldhabi" panose="01000000000000000000" pitchFamily="2" charset="-78"/>
                <a:cs typeface="Aldhabi" panose="01000000000000000000" pitchFamily="2" charset="-78"/>
              </a:rPr>
              <a:t>/</a:t>
            </a:r>
            <a:r>
              <a:rPr lang="ar-EG" dirty="0">
                <a:latin typeface="Aldhabi" panose="01000000000000000000" pitchFamily="2" charset="-78"/>
                <a:cs typeface="Aldhabi" panose="01000000000000000000" pitchFamily="2" charset="-78"/>
              </a:rPr>
              <a:t> سيف هشام</a:t>
            </a:r>
            <a:endParaRPr lang="en-US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79492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0F14E8-D1AD-B503-CEBA-3E7BF3D0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dirty="0">
                <a:solidFill>
                  <a:schemeClr val="accent2">
                    <a:lumMod val="50000"/>
                  </a:schemeClr>
                </a:solidFill>
                <a:latin typeface="Cooper Black" panose="0208090404030B020404" pitchFamily="18" charset="0"/>
              </a:rPr>
              <a:t>Project Description: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A62F615C-6F6B-C9A0-8C03-4DE22F351E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2593860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620984" y="2659424"/>
          <a:ext cx="10448798" cy="2517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6090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EBE74C-4872-2DF5-B337-7D0F88896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>
                <a:latin typeface="Cooper Black" panose="0208090404030B020404" pitchFamily="18" charset="0"/>
              </a:rPr>
              <a:t>Class Diagram: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B4369-D709-15CB-6673-8E2ADC914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26624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This diagram illustrates the object-oriented structure of the </a:t>
            </a:r>
            <a:r>
              <a:rPr lang="en-US" sz="1400" b="1" dirty="0" err="1">
                <a:solidFill>
                  <a:schemeClr val="accent3"/>
                </a:solidFill>
              </a:rPr>
              <a:t>FoodCycle</a:t>
            </a:r>
            <a:r>
              <a:rPr lang="en-US" sz="1400" b="1" dirty="0">
                <a:solidFill>
                  <a:schemeClr val="accent3"/>
                </a:solidFill>
              </a:rPr>
              <a:t> system:</a:t>
            </a:r>
            <a:endParaRPr lang="en-US" sz="1400" dirty="0">
              <a:solidFill>
                <a:schemeClr val="accent3"/>
              </a:solidFill>
            </a:endParaRPr>
          </a:p>
          <a:p>
            <a:r>
              <a:rPr lang="en-US" sz="1400" b="1" dirty="0">
                <a:solidFill>
                  <a:srgbClr val="C00000"/>
                </a:solidFill>
              </a:rPr>
              <a:t>Inheritance: </a:t>
            </a:r>
            <a:r>
              <a:rPr lang="en-US" sz="1400" b="1" dirty="0"/>
              <a:t>The base class User contains shared attributes. The classes </a:t>
            </a:r>
            <a:r>
              <a:rPr lang="en-US" sz="1400" b="1" dirty="0" err="1"/>
              <a:t>FoodProvider</a:t>
            </a:r>
            <a:r>
              <a:rPr lang="en-US" sz="1400" b="1" dirty="0"/>
              <a:t>, Admin, and </a:t>
            </a:r>
            <a:r>
              <a:rPr lang="en-US" sz="1400" b="1" dirty="0" err="1"/>
              <a:t>CharityOrganization</a:t>
            </a:r>
            <a:r>
              <a:rPr lang="en-US" sz="1400" b="1" dirty="0"/>
              <a:t> inherit from User, acquiring its properties while implementing their own specific roles.</a:t>
            </a:r>
            <a:endParaRPr lang="en-US" sz="1400" dirty="0"/>
          </a:p>
          <a:p>
            <a:r>
              <a:rPr lang="en-US" sz="1400" b="1" dirty="0">
                <a:solidFill>
                  <a:srgbClr val="C00000"/>
                </a:solidFill>
              </a:rPr>
              <a:t>Dependency: </a:t>
            </a:r>
            <a:r>
              <a:rPr lang="en-US" sz="1400" b="1" dirty="0"/>
              <a:t>The derived classes depend on the Donations.txt file for data persistence. They read from and write to this file to manage donation lifecycles.</a:t>
            </a:r>
            <a:endParaRPr lang="en-US" sz="1400" dirty="0"/>
          </a:p>
          <a:p>
            <a:r>
              <a:rPr lang="en-US" sz="1400" b="1" dirty="0">
                <a:solidFill>
                  <a:srgbClr val="C00000"/>
                </a:solidFill>
              </a:rPr>
              <a:t>Association with </a:t>
            </a:r>
            <a:r>
              <a:rPr lang="en-US" sz="1400" b="1" dirty="0" err="1">
                <a:solidFill>
                  <a:srgbClr val="C00000"/>
                </a:solidFill>
              </a:rPr>
              <a:t>FoodItem</a:t>
            </a:r>
            <a:r>
              <a:rPr lang="en-US" sz="1400" b="1" dirty="0">
                <a:solidFill>
                  <a:srgbClr val="C00000"/>
                </a:solidFill>
              </a:rPr>
              <a:t>: </a:t>
            </a:r>
            <a:r>
              <a:rPr lang="en-US" sz="1400" b="1" dirty="0"/>
              <a:t>The system manages </a:t>
            </a:r>
            <a:r>
              <a:rPr lang="en-US" sz="1400" b="1" dirty="0" err="1"/>
              <a:t>FoodItem</a:t>
            </a:r>
            <a:r>
              <a:rPr lang="en-US" sz="1400" b="1" dirty="0"/>
              <a:t> objects, which track the donation's details and current status (e.g., Pending, </a:t>
            </a:r>
            <a:r>
              <a:rPr lang="en-US" sz="1400" b="1" dirty="0" err="1"/>
              <a:t>Accepted,Requested</a:t>
            </a:r>
            <a:r>
              <a:rPr lang="en-US" sz="1400" b="1" dirty="0"/>
              <a:t>).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BD121-5401-3963-7174-EF058D582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260" y="1510146"/>
            <a:ext cx="6084804" cy="418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612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54D6A-D52E-A126-62B8-F8CDE2D75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C5F62-BD5A-50D7-5FE1-0AD0C57B0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63" y="524237"/>
            <a:ext cx="3657370" cy="1719072"/>
          </a:xfrm>
        </p:spPr>
        <p:txBody>
          <a:bodyPr anchor="b">
            <a:normAutofit/>
          </a:bodyPr>
          <a:lstStyle/>
          <a:p>
            <a:r>
              <a:rPr lang="en-US" sz="3800" dirty="0">
                <a:solidFill>
                  <a:schemeClr val="accent2">
                    <a:lumMod val="50000"/>
                  </a:schemeClr>
                </a:solidFill>
                <a:latin typeface="Cooper Black" panose="0208090404030B020404" pitchFamily="18" charset="0"/>
              </a:rPr>
              <a:t>Screenshot 1: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5522E-1D0E-A6AB-96DF-69C4621F8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278" y="2998112"/>
            <a:ext cx="3429000" cy="2159077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</a:rPr>
              <a:t>1. Register Screen:</a:t>
            </a:r>
            <a:br>
              <a:rPr lang="ar-EG" sz="2200" dirty="0">
                <a:solidFill>
                  <a:srgbClr val="C00000"/>
                </a:solidFill>
              </a:rPr>
            </a:br>
            <a:br>
              <a:rPr lang="ar-EG" sz="2200" dirty="0"/>
            </a:br>
            <a:r>
              <a:rPr lang="en-US" sz="2400" dirty="0"/>
              <a:t>Enables new users to create accounts and select their specific roles to streamline donation management.</a:t>
            </a: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556962-A028-6385-4EAC-3295B90C91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31" t="7889" r="14871" b="15690"/>
          <a:stretch>
            <a:fillRect/>
          </a:stretch>
        </p:blipFill>
        <p:spPr>
          <a:xfrm>
            <a:off x="5475844" y="1568478"/>
            <a:ext cx="6072878" cy="372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781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F5A15-D46A-5508-0E53-40655DB8C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9BE261C-CF19-813C-3BE8-A38E0751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14A500-6B3F-05ED-AF9F-C7EC01A7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63" y="524237"/>
            <a:ext cx="3657370" cy="1719072"/>
          </a:xfrm>
        </p:spPr>
        <p:txBody>
          <a:bodyPr anchor="b">
            <a:normAutofit/>
          </a:bodyPr>
          <a:lstStyle/>
          <a:p>
            <a:r>
              <a:rPr lang="en-US" sz="3800" dirty="0">
                <a:solidFill>
                  <a:schemeClr val="accent2">
                    <a:lumMod val="50000"/>
                  </a:schemeClr>
                </a:solidFill>
                <a:latin typeface="Cooper Black" panose="0208090404030B020404" pitchFamily="18" charset="0"/>
              </a:rPr>
              <a:t>Screenshot 2: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B85A93A-FBF1-C520-2DFE-187AFD4C2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BACBD-9663-85CD-5570-97A6856E7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278" y="2998112"/>
            <a:ext cx="3429000" cy="2470382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</a:rPr>
              <a:t>2. Login Portal:</a:t>
            </a:r>
            <a:br>
              <a:rPr lang="ar-EG" sz="2200" dirty="0">
                <a:solidFill>
                  <a:srgbClr val="C00000"/>
                </a:solidFill>
              </a:rPr>
            </a:br>
            <a:br>
              <a:rPr lang="ar-EG" sz="2200" dirty="0"/>
            </a:br>
            <a:r>
              <a:rPr lang="en-US" sz="2400" dirty="0"/>
              <a:t>A secure authentication interface that validates user credentials to grant access to the system based on the assigned user role.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125894-ED8F-C7DA-81AF-9A80BABEFA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08" t="15368" r="30358" b="39143"/>
          <a:stretch>
            <a:fillRect/>
          </a:stretch>
        </p:blipFill>
        <p:spPr>
          <a:xfrm>
            <a:off x="5435950" y="1389505"/>
            <a:ext cx="6112772" cy="407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38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43AA03-0CA5-5886-1B7B-E81FEF5D0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53C631F-97DE-3053-0969-B4F507459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CEAEB-C10C-2E19-85FE-F01F006E3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63" y="524237"/>
            <a:ext cx="3657370" cy="1719072"/>
          </a:xfrm>
        </p:spPr>
        <p:txBody>
          <a:bodyPr anchor="b">
            <a:normAutofit/>
          </a:bodyPr>
          <a:lstStyle/>
          <a:p>
            <a:r>
              <a:rPr lang="en-US" sz="3800" dirty="0">
                <a:solidFill>
                  <a:schemeClr val="accent2">
                    <a:lumMod val="50000"/>
                  </a:schemeClr>
                </a:solidFill>
                <a:latin typeface="Cooper Black" panose="0208090404030B020404" pitchFamily="18" charset="0"/>
              </a:rPr>
              <a:t>Screenshot 3: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B2B0D7D-3220-BEC5-D5A6-444BBD485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E6DBE-5795-1C07-CF7B-B4ABEA2CE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278" y="2998112"/>
            <a:ext cx="3429000" cy="2470382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</a:rPr>
              <a:t>3. Main Dashboard:</a:t>
            </a:r>
            <a:br>
              <a:rPr lang="ar-EG" sz="2200" dirty="0">
                <a:solidFill>
                  <a:srgbClr val="C00000"/>
                </a:solidFill>
              </a:rPr>
            </a:br>
            <a:br>
              <a:rPr lang="ar-EG" sz="2200" dirty="0"/>
            </a:br>
            <a:r>
              <a:rPr lang="en-US" sz="2400" dirty="0"/>
              <a:t>A visual control panel providing donors and charities with real-time statistics on total, accepted, and pending donations.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4F9898-D25F-17F1-52A2-AE15D0275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9" b="999"/>
          <a:stretch/>
        </p:blipFill>
        <p:spPr>
          <a:xfrm>
            <a:off x="5435950" y="1389505"/>
            <a:ext cx="6112772" cy="407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3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CA4EF1-39D5-9DA6-8003-08A4B3901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CD24C89-C8C9-1BD2-BDD2-D1667A5D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BB7F9-5CF5-08FD-1B17-5F77F0FC2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63" y="524237"/>
            <a:ext cx="3657370" cy="1719072"/>
          </a:xfrm>
        </p:spPr>
        <p:txBody>
          <a:bodyPr anchor="b">
            <a:normAutofit/>
          </a:bodyPr>
          <a:lstStyle/>
          <a:p>
            <a:r>
              <a:rPr lang="en-US" sz="3800" dirty="0">
                <a:solidFill>
                  <a:schemeClr val="accent2">
                    <a:lumMod val="50000"/>
                  </a:schemeClr>
                </a:solidFill>
                <a:latin typeface="Cooper Black" panose="0208090404030B020404" pitchFamily="18" charset="0"/>
              </a:rPr>
              <a:t>Screenshot 4: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81E0879E-B4B8-427A-7D89-8052D7FE4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5B97C-B065-E65A-32D2-230C53BB3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278" y="2998112"/>
            <a:ext cx="3429000" cy="247038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</a:rPr>
              <a:t>4. Profile Form:</a:t>
            </a:r>
            <a:br>
              <a:rPr lang="ar-EG" sz="2200" dirty="0">
                <a:solidFill>
                  <a:srgbClr val="C00000"/>
                </a:solidFill>
              </a:rPr>
            </a:br>
            <a:br>
              <a:rPr lang="ar-EG" sz="2200" dirty="0"/>
            </a:br>
            <a:r>
              <a:rPr lang="en-US" sz="2400" dirty="0"/>
              <a:t>Displays the user's personal information (name, phone, address, and account type) and allows for editing.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A786E9-5ADC-9A05-218D-779813CC0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0" b="1523"/>
          <a:stretch>
            <a:fillRect/>
          </a:stretch>
        </p:blipFill>
        <p:spPr>
          <a:xfrm>
            <a:off x="6322423" y="1030417"/>
            <a:ext cx="5226299" cy="479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0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FB4DCB-468A-B1DB-FAA6-1A7E1EE7C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EAD8F1E-F34A-EC30-9EA5-26CD057B7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AE0B7C-DB01-68D6-D79B-9E0A5F96F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63" y="524237"/>
            <a:ext cx="3657370" cy="1719072"/>
          </a:xfrm>
        </p:spPr>
        <p:txBody>
          <a:bodyPr anchor="b">
            <a:normAutofit/>
          </a:bodyPr>
          <a:lstStyle/>
          <a:p>
            <a:r>
              <a:rPr lang="en-US" sz="3800" dirty="0">
                <a:solidFill>
                  <a:schemeClr val="accent2">
                    <a:lumMod val="50000"/>
                  </a:schemeClr>
                </a:solidFill>
                <a:latin typeface="Cooper Black" panose="0208090404030B020404" pitchFamily="18" charset="0"/>
              </a:rPr>
              <a:t>Screenshot 5: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77078C96-B7C7-B0FA-DAA6-0218C750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2497F-48F0-5857-C113-CE1BBA706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278" y="2998112"/>
            <a:ext cx="3429000" cy="279055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</a:rPr>
              <a:t>5. Donation </a:t>
            </a:r>
            <a:r>
              <a:rPr lang="en-US" sz="2200" dirty="0" err="1">
                <a:solidFill>
                  <a:srgbClr val="C00000"/>
                </a:solidFill>
              </a:rPr>
              <a:t>screan</a:t>
            </a:r>
            <a:r>
              <a:rPr lang="en-US" sz="2200" dirty="0">
                <a:solidFill>
                  <a:srgbClr val="C00000"/>
                </a:solidFill>
              </a:rPr>
              <a:t>:</a:t>
            </a:r>
            <a:br>
              <a:rPr lang="ar-EG" sz="2200" dirty="0">
                <a:solidFill>
                  <a:srgbClr val="C00000"/>
                </a:solidFill>
              </a:rPr>
            </a:br>
            <a:br>
              <a:rPr lang="ar-EG" sz="2200" dirty="0"/>
            </a:br>
            <a:r>
              <a:rPr lang="en-US" sz="2400" dirty="0"/>
              <a:t>This interface allows food providers to easily submit their food donations by specifying the food type, quantity, and expiry date. 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63E6C2-FE0B-CF19-827B-C26E837A2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6" r="982"/>
          <a:stretch>
            <a:fillRect/>
          </a:stretch>
        </p:blipFill>
        <p:spPr>
          <a:xfrm>
            <a:off x="4424344" y="1277635"/>
            <a:ext cx="7269193" cy="482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43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EA96E5-1D8E-D1BF-B00C-F636D47D7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C95F67F-42A6-86BF-12BC-C8F627843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CFE9F-7A76-2AB7-449D-D7103F5E8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63" y="524237"/>
            <a:ext cx="3657370" cy="1719072"/>
          </a:xfrm>
        </p:spPr>
        <p:txBody>
          <a:bodyPr anchor="b">
            <a:normAutofit/>
          </a:bodyPr>
          <a:lstStyle/>
          <a:p>
            <a:r>
              <a:rPr lang="en-US" sz="3800" dirty="0">
                <a:solidFill>
                  <a:schemeClr val="accent2">
                    <a:lumMod val="50000"/>
                  </a:schemeClr>
                </a:solidFill>
                <a:latin typeface="Cooper Black" panose="0208090404030B020404" pitchFamily="18" charset="0"/>
              </a:rPr>
              <a:t>Screenshot 6: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708FD1BF-7C37-30AF-3DCA-22FF2F7A0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9B2AF-94DC-E288-0570-4F6F4F197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278" y="2998112"/>
            <a:ext cx="3429000" cy="258605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</a:rPr>
              <a:t>6. Admin Form:</a:t>
            </a:r>
            <a:br>
              <a:rPr lang="ar-EG" sz="2200" dirty="0">
                <a:solidFill>
                  <a:srgbClr val="C00000"/>
                </a:solidFill>
              </a:rPr>
            </a:br>
            <a:br>
              <a:rPr lang="ar-EG" sz="2200" dirty="0"/>
            </a:br>
            <a:r>
              <a:rPr lang="en-US" sz="2400" dirty="0"/>
              <a:t>An interface for approving or rejecting donations, which updates the status in the system immediately.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7A2FAE-C990-C1F5-E105-CEBB9A531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9" r="-1376"/>
          <a:stretch>
            <a:fillRect/>
          </a:stretch>
        </p:blipFill>
        <p:spPr>
          <a:xfrm>
            <a:off x="4654296" y="1289173"/>
            <a:ext cx="6894425" cy="479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82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18C378-807C-6D55-4392-4E68F3CAE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6E043AA-9710-237C-A102-B701C3C5C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BECA6E-BB25-E629-8CC4-929A70655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63" y="524237"/>
            <a:ext cx="3657370" cy="1719072"/>
          </a:xfrm>
        </p:spPr>
        <p:txBody>
          <a:bodyPr anchor="b">
            <a:normAutofit/>
          </a:bodyPr>
          <a:lstStyle/>
          <a:p>
            <a:r>
              <a:rPr lang="en-US" sz="3800" dirty="0">
                <a:solidFill>
                  <a:schemeClr val="accent2">
                    <a:lumMod val="50000"/>
                  </a:schemeClr>
                </a:solidFill>
                <a:latin typeface="Cooper Black" panose="0208090404030B020404" pitchFamily="18" charset="0"/>
              </a:rPr>
              <a:t>Screenshot 7: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A93CC11B-8442-42FC-7D0E-1A903E44A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95811-F0B3-74C3-1F7D-0EFA57139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278" y="2998111"/>
            <a:ext cx="3429000" cy="309976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</a:rPr>
              <a:t>7. Charity Form:</a:t>
            </a:r>
            <a:br>
              <a:rPr lang="ar-EG" sz="2200" dirty="0">
                <a:solidFill>
                  <a:srgbClr val="C00000"/>
                </a:solidFill>
              </a:rPr>
            </a:br>
            <a:br>
              <a:rPr lang="ar-EG" sz="2200" dirty="0"/>
            </a:br>
            <a:r>
              <a:rPr lang="en-US" sz="2400" dirty="0"/>
              <a:t>This screen displays a list of food donations approved by the administrator, allowing charity organizations to view details and request specific donations.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9594FE-58E5-1340-9CD3-87FE4A02F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" r="372"/>
          <a:stretch/>
        </p:blipFill>
        <p:spPr>
          <a:xfrm>
            <a:off x="4424344" y="1277635"/>
            <a:ext cx="7269193" cy="482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84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91CD2A-E238-C33C-1BC1-438D5C498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45671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solidFill>
                  <a:srgbClr val="9E0000"/>
                </a:solidFill>
              </a:rPr>
              <a:t>THANK YOU FOR YOUR ATTENTION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CE5A6F-415C-C8F6-AB10-E0148CF40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1" r="10461" b="-1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3209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466</Words>
  <Application>Microsoft Office PowerPoint</Application>
  <PresentationFormat>Widescreen</PresentationFormat>
  <Paragraphs>49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Aldhabi</vt:lpstr>
      <vt:lpstr>Aptos</vt:lpstr>
      <vt:lpstr>Aptos Display</vt:lpstr>
      <vt:lpstr>Arial</vt:lpstr>
      <vt:lpstr>Cooper Black</vt:lpstr>
      <vt:lpstr>Diwani Outline Shaded</vt:lpstr>
      <vt:lpstr>Office Theme</vt:lpstr>
      <vt:lpstr>Food Cycle</vt:lpstr>
      <vt:lpstr>        Professors:</vt:lpstr>
      <vt:lpstr>Project Description:</vt:lpstr>
      <vt:lpstr>Class Diagram:</vt:lpstr>
      <vt:lpstr>Screenshot 1:</vt:lpstr>
      <vt:lpstr>Screenshot 2:</vt:lpstr>
      <vt:lpstr>Screenshot 3:</vt:lpstr>
      <vt:lpstr>Screenshot 4:</vt:lpstr>
      <vt:lpstr>Screenshot 5:</vt:lpstr>
      <vt:lpstr>Screenshot 6:</vt:lpstr>
      <vt:lpstr>Screenshot 7: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2025</dc:creator>
  <cp:lastModifiedBy>m 2025</cp:lastModifiedBy>
  <cp:revision>6</cp:revision>
  <dcterms:created xsi:type="dcterms:W3CDTF">2026-04-16T21:48:50Z</dcterms:created>
  <dcterms:modified xsi:type="dcterms:W3CDTF">2026-04-29T14:54:10Z</dcterms:modified>
</cp:coreProperties>
</file>