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Lst>
  <p:sldSz cx="18288000" cy="10287000"/>
  <p:notesSz cx="6858000" cy="9144000"/>
  <p:embeddedFontLst>
    <p:embeddedFont>
      <p:font typeface="Helvetica World" panose="020B0604020202020204" charset="-128"/>
      <p:regular r:id="rId5"/>
    </p:embeddedFont>
    <p:embeddedFont>
      <p:font typeface="Helvetica World Bold" panose="020B0604020202020204" charset="-128"/>
      <p:regular r:id="rId6"/>
    </p:embeddedFont>
    <p:embeddedFont>
      <p:font typeface="Andalus" panose="02020603050405020304" pitchFamily="18" charset="-78"/>
      <p:regular r:id="rId7"/>
    </p:embeddedFont>
    <p:embeddedFont>
      <p:font typeface="Norwester"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29"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pPr algn="r" rtl="1"/>
            <a:r>
              <a:rPr lang="ar-EG" dirty="0"/>
              <a:t>ا</a:t>
            </a:r>
            <a:endParaRPr lang="en-US" dirty="0"/>
          </a:p>
        </p:txBody>
      </p:sp>
      <p:sp>
        <p:nvSpPr>
          <p:cNvPr id="3" name="Freeform 3"/>
          <p:cNvSpPr/>
          <p:nvPr/>
        </p:nvSpPr>
        <p:spPr>
          <a:xfrm rot="-5400000">
            <a:off x="-358858" y="4907320"/>
            <a:ext cx="3247475" cy="472360"/>
          </a:xfrm>
          <a:custGeom>
            <a:avLst/>
            <a:gdLst/>
            <a:ahLst/>
            <a:cxnLst/>
            <a:rect l="l" t="t" r="r" b="b"/>
            <a:pathLst>
              <a:path w="3247475" h="472360">
                <a:moveTo>
                  <a:pt x="0" y="0"/>
                </a:moveTo>
                <a:lnTo>
                  <a:pt x="3247476" y="0"/>
                </a:lnTo>
                <a:lnTo>
                  <a:pt x="3247476" y="472360"/>
                </a:lnTo>
                <a:lnTo>
                  <a:pt x="0" y="47236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400000" flipV="1">
            <a:off x="15399382" y="4907320"/>
            <a:ext cx="3247475" cy="472360"/>
          </a:xfrm>
          <a:custGeom>
            <a:avLst/>
            <a:gdLst/>
            <a:ahLst/>
            <a:cxnLst/>
            <a:rect l="l" t="t" r="r" b="b"/>
            <a:pathLst>
              <a:path w="3247475" h="472360">
                <a:moveTo>
                  <a:pt x="0" y="472360"/>
                </a:moveTo>
                <a:lnTo>
                  <a:pt x="3247476" y="472360"/>
                </a:lnTo>
                <a:lnTo>
                  <a:pt x="3247476"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028700" y="9053909"/>
            <a:ext cx="263267" cy="204391"/>
          </a:xfrm>
          <a:custGeom>
            <a:avLst/>
            <a:gdLst/>
            <a:ahLst/>
            <a:cxnLst/>
            <a:rect l="l" t="t" r="r" b="b"/>
            <a:pathLst>
              <a:path w="263267" h="204391">
                <a:moveTo>
                  <a:pt x="0" y="0"/>
                </a:moveTo>
                <a:lnTo>
                  <a:pt x="263267" y="0"/>
                </a:lnTo>
                <a:lnTo>
                  <a:pt x="263267" y="204391"/>
                </a:lnTo>
                <a:lnTo>
                  <a:pt x="0" y="2043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flipH="1">
            <a:off x="16996033" y="9053909"/>
            <a:ext cx="263267" cy="204391"/>
          </a:xfrm>
          <a:custGeom>
            <a:avLst/>
            <a:gdLst/>
            <a:ahLst/>
            <a:cxnLst/>
            <a:rect l="l" t="t" r="r" b="b"/>
            <a:pathLst>
              <a:path w="263267" h="204391">
                <a:moveTo>
                  <a:pt x="263267" y="0"/>
                </a:moveTo>
                <a:lnTo>
                  <a:pt x="0" y="0"/>
                </a:lnTo>
                <a:lnTo>
                  <a:pt x="0" y="204391"/>
                </a:lnTo>
                <a:lnTo>
                  <a:pt x="263267" y="204391"/>
                </a:lnTo>
                <a:lnTo>
                  <a:pt x="26326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028700" y="1028700"/>
            <a:ext cx="1337383" cy="1157444"/>
          </a:xfrm>
          <a:custGeom>
            <a:avLst/>
            <a:gdLst/>
            <a:ahLst/>
            <a:cxnLst/>
            <a:rect l="l" t="t" r="r" b="b"/>
            <a:pathLst>
              <a:path w="1337383" h="1157444">
                <a:moveTo>
                  <a:pt x="0" y="0"/>
                </a:moveTo>
                <a:lnTo>
                  <a:pt x="1337383" y="0"/>
                </a:lnTo>
                <a:lnTo>
                  <a:pt x="1337383" y="1157444"/>
                </a:lnTo>
                <a:lnTo>
                  <a:pt x="0" y="11574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flipH="1">
            <a:off x="15921917" y="1048018"/>
            <a:ext cx="1337383" cy="1157444"/>
          </a:xfrm>
          <a:custGeom>
            <a:avLst/>
            <a:gdLst/>
            <a:ahLst/>
            <a:cxnLst/>
            <a:rect l="l" t="t" r="r" b="b"/>
            <a:pathLst>
              <a:path w="1337383" h="1157444">
                <a:moveTo>
                  <a:pt x="1337383" y="0"/>
                </a:moveTo>
                <a:lnTo>
                  <a:pt x="0" y="0"/>
                </a:lnTo>
                <a:lnTo>
                  <a:pt x="0" y="1157444"/>
                </a:lnTo>
                <a:lnTo>
                  <a:pt x="1337383" y="1157444"/>
                </a:lnTo>
                <a:lnTo>
                  <a:pt x="133738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2835963" y="3291162"/>
            <a:ext cx="12616074" cy="3163176"/>
          </a:xfrm>
          <a:prstGeom prst="rect">
            <a:avLst/>
          </a:prstGeom>
        </p:spPr>
        <p:txBody>
          <a:bodyPr lIns="0" tIns="0" rIns="0" bIns="0" rtlCol="0" anchor="t">
            <a:spAutoFit/>
          </a:bodyPr>
          <a:lstStyle/>
          <a:p>
            <a:pPr algn="ctr">
              <a:lnSpc>
                <a:spcPts val="25590"/>
              </a:lnSpc>
            </a:pPr>
            <a:r>
              <a:rPr lang="en-US" sz="19386" spc="-949" dirty="0">
                <a:solidFill>
                  <a:srgbClr val="38B6FF"/>
                </a:solidFill>
                <a:latin typeface="Norwester"/>
                <a:ea typeface="Norwester"/>
                <a:cs typeface="Norwester"/>
                <a:sym typeface="Norwester"/>
              </a:rPr>
              <a:t>FOOD CYCLE</a:t>
            </a:r>
          </a:p>
        </p:txBody>
      </p:sp>
      <p:sp>
        <p:nvSpPr>
          <p:cNvPr id="11" name="Freeform 11"/>
          <p:cNvSpPr/>
          <p:nvPr/>
        </p:nvSpPr>
        <p:spPr>
          <a:xfrm>
            <a:off x="14369830" y="1607422"/>
            <a:ext cx="1836298" cy="1863021"/>
          </a:xfrm>
          <a:custGeom>
            <a:avLst/>
            <a:gdLst/>
            <a:ahLst/>
            <a:cxnLst/>
            <a:rect l="l" t="t" r="r" b="b"/>
            <a:pathLst>
              <a:path w="1836298" h="1863021">
                <a:moveTo>
                  <a:pt x="0" y="0"/>
                </a:moveTo>
                <a:lnTo>
                  <a:pt x="1836298" y="0"/>
                </a:lnTo>
                <a:lnTo>
                  <a:pt x="1836298" y="1863021"/>
                </a:lnTo>
                <a:lnTo>
                  <a:pt x="0" y="1863021"/>
                </a:lnTo>
                <a:lnTo>
                  <a:pt x="0" y="0"/>
                </a:lnTo>
                <a:close/>
              </a:path>
            </a:pathLst>
          </a:custGeom>
          <a:blipFill>
            <a:blip r:embed="rId6"/>
            <a:stretch>
              <a:fillRect/>
            </a:stretch>
          </a:blipFill>
        </p:spPr>
        <p:txBody>
          <a:bodyPr/>
          <a:lstStyle/>
          <a:p>
            <a:endParaRPr lang="en-US"/>
          </a:p>
        </p:txBody>
      </p:sp>
      <p:sp>
        <p:nvSpPr>
          <p:cNvPr id="12" name="TextBox 12"/>
          <p:cNvSpPr txBox="1"/>
          <p:nvPr/>
        </p:nvSpPr>
        <p:spPr>
          <a:xfrm>
            <a:off x="5448444" y="6224940"/>
            <a:ext cx="7391112" cy="794446"/>
          </a:xfrm>
          <a:prstGeom prst="rect">
            <a:avLst/>
          </a:prstGeom>
        </p:spPr>
        <p:txBody>
          <a:bodyPr lIns="0" tIns="0" rIns="0" bIns="0" rtlCol="0" anchor="t">
            <a:spAutoFit/>
          </a:bodyPr>
          <a:lstStyle/>
          <a:p>
            <a:pPr algn="ctr">
              <a:lnSpc>
                <a:spcPts val="3179"/>
              </a:lnSpc>
            </a:pPr>
            <a:r>
              <a:rPr lang="en-US" sz="2408" spc="-118" dirty="0">
                <a:solidFill>
                  <a:srgbClr val="FFFFFF"/>
                </a:solidFill>
                <a:latin typeface="Norwester"/>
                <a:ea typeface="Norwester"/>
                <a:cs typeface="Norwester"/>
                <a:sym typeface="Norwester"/>
              </a:rPr>
              <a:t>OBJECT-ORIENTED PROGRAMMING PROJECT</a:t>
            </a:r>
          </a:p>
          <a:p>
            <a:pPr algn="ctr">
              <a:lnSpc>
                <a:spcPts val="3179"/>
              </a:lnSpc>
            </a:pPr>
            <a:r>
              <a:rPr lang="en-US" sz="2408" spc="-118" dirty="0">
                <a:solidFill>
                  <a:srgbClr val="FFFFFF"/>
                </a:solidFill>
                <a:latin typeface="Norwester"/>
                <a:ea typeface="Norwester"/>
                <a:cs typeface="Norwester"/>
                <a:sym typeface="Norwester"/>
              </a:rPr>
              <a:t>SPRING 2026</a:t>
            </a:r>
          </a:p>
        </p:txBody>
      </p:sp>
      <p:sp>
        <p:nvSpPr>
          <p:cNvPr id="13" name="TextBox 12">
            <a:extLst>
              <a:ext uri="{FF2B5EF4-FFF2-40B4-BE49-F238E27FC236}">
                <a16:creationId xmlns:a16="http://schemas.microsoft.com/office/drawing/2014/main" id="{700B0877-61B1-DE35-E6DC-FB66D16E3A93}"/>
              </a:ext>
            </a:extLst>
          </p:cNvPr>
          <p:cNvSpPr txBox="1"/>
          <p:nvPr/>
        </p:nvSpPr>
        <p:spPr>
          <a:xfrm>
            <a:off x="6764691" y="2538932"/>
            <a:ext cx="4758617" cy="1015663"/>
          </a:xfrm>
          <a:prstGeom prst="rect">
            <a:avLst/>
          </a:prstGeom>
          <a:noFill/>
        </p:spPr>
        <p:txBody>
          <a:bodyPr wrap="square" rtlCol="0">
            <a:spAutoFit/>
          </a:bodyPr>
          <a:lstStyle/>
          <a:p>
            <a:r>
              <a:rPr lang="ar-EG" sz="6000" dirty="0">
                <a:solidFill>
                  <a:schemeClr val="tx2">
                    <a:lumMod val="60000"/>
                    <a:lumOff val="40000"/>
                  </a:schemeClr>
                </a:solidFill>
                <a:latin typeface="Andalus" panose="02020603050405020304" pitchFamily="18" charset="-78"/>
                <a:cs typeface="Andalus" panose="02020603050405020304" pitchFamily="18" charset="-78"/>
              </a:rPr>
              <a:t>اعادة تدوير الطعام</a:t>
            </a:r>
            <a:endParaRPr lang="en-US" sz="6000" dirty="0">
              <a:solidFill>
                <a:schemeClr val="tx2">
                  <a:lumMod val="60000"/>
                  <a:lumOff val="40000"/>
                </a:schemeClr>
              </a:solidFill>
              <a:latin typeface="Andalus" panose="02020603050405020304" pitchFamily="18" charset="-78"/>
              <a:cs typeface="Andalus" panose="02020603050405020304" pitchFamily="18"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a:p>
        </p:txBody>
      </p:sp>
      <p:sp>
        <p:nvSpPr>
          <p:cNvPr id="3" name="Freeform 3"/>
          <p:cNvSpPr/>
          <p:nvPr/>
        </p:nvSpPr>
        <p:spPr>
          <a:xfrm flipV="1">
            <a:off x="1028700" y="2732195"/>
            <a:ext cx="5592895" cy="813512"/>
          </a:xfrm>
          <a:custGeom>
            <a:avLst/>
            <a:gdLst/>
            <a:ahLst/>
            <a:cxnLst/>
            <a:rect l="l" t="t" r="r" b="b"/>
            <a:pathLst>
              <a:path w="5592895" h="813512">
                <a:moveTo>
                  <a:pt x="0" y="813512"/>
                </a:moveTo>
                <a:lnTo>
                  <a:pt x="5592895" y="813512"/>
                </a:lnTo>
                <a:lnTo>
                  <a:pt x="5592895" y="0"/>
                </a:lnTo>
                <a:lnTo>
                  <a:pt x="0" y="0"/>
                </a:lnTo>
                <a:lnTo>
                  <a:pt x="0" y="813512"/>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876300"/>
            <a:ext cx="6638493" cy="1979295"/>
          </a:xfrm>
          <a:prstGeom prst="rect">
            <a:avLst/>
          </a:prstGeom>
        </p:spPr>
        <p:txBody>
          <a:bodyPr lIns="0" tIns="0" rIns="0" bIns="0" rtlCol="0" anchor="t">
            <a:spAutoFit/>
          </a:bodyPr>
          <a:lstStyle/>
          <a:p>
            <a:pPr algn="l">
              <a:lnSpc>
                <a:spcPts val="15840"/>
              </a:lnSpc>
            </a:pPr>
            <a:r>
              <a:rPr lang="en-US" sz="12000" spc="-588">
                <a:solidFill>
                  <a:srgbClr val="38B6FF"/>
                </a:solidFill>
                <a:latin typeface="Norwester"/>
                <a:ea typeface="Norwester"/>
                <a:cs typeface="Norwester"/>
                <a:sym typeface="Norwester"/>
              </a:rPr>
              <a:t>ABSTRACT</a:t>
            </a:r>
          </a:p>
        </p:txBody>
      </p:sp>
      <p:sp>
        <p:nvSpPr>
          <p:cNvPr id="5" name="TextBox 5"/>
          <p:cNvSpPr txBox="1"/>
          <p:nvPr/>
        </p:nvSpPr>
        <p:spPr>
          <a:xfrm>
            <a:off x="1028700" y="4203599"/>
            <a:ext cx="16230600" cy="5054701"/>
          </a:xfrm>
          <a:prstGeom prst="rect">
            <a:avLst/>
          </a:prstGeom>
        </p:spPr>
        <p:txBody>
          <a:bodyPr lIns="0" tIns="0" rIns="0" bIns="0" rtlCol="0" anchor="t">
            <a:spAutoFit/>
          </a:bodyPr>
          <a:lstStyle/>
          <a:p>
            <a:pPr algn="l">
              <a:lnSpc>
                <a:spcPts val="3403"/>
              </a:lnSpc>
            </a:pPr>
            <a:r>
              <a:rPr lang="en-US" sz="2618" spc="-78">
                <a:solidFill>
                  <a:srgbClr val="FFFFFF"/>
                </a:solidFill>
                <a:latin typeface="Helvetica World"/>
                <a:ea typeface="Helvetica World"/>
                <a:cs typeface="Helvetica World"/>
                <a:sym typeface="Helvetica World"/>
              </a:rPr>
              <a:t>Food waste is a global challenge; approximately one-third of produced food is wasted annually. In sectors like hospitality, high-quality surplus food is often discarded, contributing to environmental pollution while many families face food insecurity.</a:t>
            </a:r>
          </a:p>
          <a:p>
            <a:pPr algn="l">
              <a:lnSpc>
                <a:spcPts val="3403"/>
              </a:lnSpc>
            </a:pPr>
            <a:endParaRPr lang="en-US" sz="2618" spc="-78">
              <a:solidFill>
                <a:srgbClr val="FFFFFF"/>
              </a:solidFill>
              <a:latin typeface="Helvetica World"/>
              <a:ea typeface="Helvetica World"/>
              <a:cs typeface="Helvetica World"/>
              <a:sym typeface="Helvetica World"/>
            </a:endParaRPr>
          </a:p>
          <a:p>
            <a:pPr algn="l">
              <a:lnSpc>
                <a:spcPts val="3403"/>
              </a:lnSpc>
            </a:pPr>
            <a:r>
              <a:rPr lang="en-US" sz="2618" spc="-78">
                <a:solidFill>
                  <a:srgbClr val="FFFFFF"/>
                </a:solidFill>
                <a:latin typeface="Helvetica World"/>
                <a:ea typeface="Helvetica World"/>
                <a:cs typeface="Helvetica World"/>
                <a:sym typeface="Helvetica World"/>
              </a:rPr>
              <a:t>FoodCycle addresses this problem by providing a digital platform developed with C# and OOP principles. The system acts as a real-time bridge between food providers and charitable organizations. Through a centralized administrative dashboard, the software manages the listing, verification, and requesting of donations.</a:t>
            </a:r>
          </a:p>
          <a:p>
            <a:pPr algn="l">
              <a:lnSpc>
                <a:spcPts val="3403"/>
              </a:lnSpc>
            </a:pPr>
            <a:endParaRPr lang="en-US" sz="2618" spc="-78">
              <a:solidFill>
                <a:srgbClr val="FFFFFF"/>
              </a:solidFill>
              <a:latin typeface="Helvetica World"/>
              <a:ea typeface="Helvetica World"/>
              <a:cs typeface="Helvetica World"/>
              <a:sym typeface="Helvetica World"/>
            </a:endParaRPr>
          </a:p>
          <a:p>
            <a:pPr algn="l">
              <a:lnSpc>
                <a:spcPts val="3403"/>
              </a:lnSpc>
            </a:pPr>
            <a:r>
              <a:rPr lang="en-US" sz="2618" spc="-78">
                <a:solidFill>
                  <a:srgbClr val="FFFFFF"/>
                </a:solidFill>
                <a:latin typeface="Helvetica World"/>
                <a:ea typeface="Helvetica World"/>
                <a:cs typeface="Helvetica World"/>
                <a:sym typeface="Helvetica World"/>
              </a:rPr>
              <a:t>The implementation of FoodCycle aims to significantly reduce local food waste and lower the carbon footprint associated with organic waste. By digitizing surplus food management, the project ensures that resources reach the underprivileged efficiently. Ultimately, FoodCycle fosters a sustainable, data-driven approach to social welfare, demonstrating how software solutions can effectively solve real-world logistical and environmental challenges.</a:t>
            </a:r>
          </a:p>
        </p:txBody>
      </p:sp>
      <p:sp>
        <p:nvSpPr>
          <p:cNvPr id="6" name="Freeform 6"/>
          <p:cNvSpPr/>
          <p:nvPr/>
        </p:nvSpPr>
        <p:spPr>
          <a:xfrm>
            <a:off x="15423002" y="1028700"/>
            <a:ext cx="1836298" cy="1863021"/>
          </a:xfrm>
          <a:custGeom>
            <a:avLst/>
            <a:gdLst/>
            <a:ahLst/>
            <a:cxnLst/>
            <a:rect l="l" t="t" r="r" b="b"/>
            <a:pathLst>
              <a:path w="1836298" h="1863021">
                <a:moveTo>
                  <a:pt x="0" y="0"/>
                </a:moveTo>
                <a:lnTo>
                  <a:pt x="1836298" y="0"/>
                </a:lnTo>
                <a:lnTo>
                  <a:pt x="1836298" y="1863021"/>
                </a:lnTo>
                <a:lnTo>
                  <a:pt x="0" y="1863021"/>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a:p>
        </p:txBody>
      </p:sp>
      <p:sp>
        <p:nvSpPr>
          <p:cNvPr id="3" name="Freeform 3"/>
          <p:cNvSpPr/>
          <p:nvPr/>
        </p:nvSpPr>
        <p:spPr>
          <a:xfrm flipV="1">
            <a:off x="6750982" y="2959278"/>
            <a:ext cx="5926398" cy="862021"/>
          </a:xfrm>
          <a:custGeom>
            <a:avLst/>
            <a:gdLst/>
            <a:ahLst/>
            <a:cxnLst/>
            <a:rect l="l" t="t" r="r" b="b"/>
            <a:pathLst>
              <a:path w="5926398" h="862021">
                <a:moveTo>
                  <a:pt x="0" y="862021"/>
                </a:moveTo>
                <a:lnTo>
                  <a:pt x="5926398" y="862021"/>
                </a:lnTo>
                <a:lnTo>
                  <a:pt x="5926398" y="0"/>
                </a:lnTo>
                <a:lnTo>
                  <a:pt x="0" y="0"/>
                </a:lnTo>
                <a:lnTo>
                  <a:pt x="0" y="862021"/>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V="1">
            <a:off x="1028700" y="2974123"/>
            <a:ext cx="5722282" cy="832332"/>
          </a:xfrm>
          <a:custGeom>
            <a:avLst/>
            <a:gdLst/>
            <a:ahLst/>
            <a:cxnLst/>
            <a:rect l="l" t="t" r="r" b="b"/>
            <a:pathLst>
              <a:path w="5722282" h="832332">
                <a:moveTo>
                  <a:pt x="0" y="832332"/>
                </a:moveTo>
                <a:lnTo>
                  <a:pt x="5722282" y="832332"/>
                </a:lnTo>
                <a:lnTo>
                  <a:pt x="5722282" y="0"/>
                </a:lnTo>
                <a:lnTo>
                  <a:pt x="0" y="0"/>
                </a:lnTo>
                <a:lnTo>
                  <a:pt x="0" y="832332"/>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028700" y="1012628"/>
            <a:ext cx="11444565" cy="1979295"/>
          </a:xfrm>
          <a:prstGeom prst="rect">
            <a:avLst/>
          </a:prstGeom>
        </p:spPr>
        <p:txBody>
          <a:bodyPr lIns="0" tIns="0" rIns="0" bIns="0" rtlCol="0" anchor="t">
            <a:spAutoFit/>
          </a:bodyPr>
          <a:lstStyle/>
          <a:p>
            <a:pPr algn="l">
              <a:lnSpc>
                <a:spcPts val="15840"/>
              </a:lnSpc>
            </a:pPr>
            <a:r>
              <a:rPr lang="en-US" sz="12000" spc="-588">
                <a:solidFill>
                  <a:srgbClr val="38B6FF"/>
                </a:solidFill>
                <a:latin typeface="Norwester"/>
                <a:ea typeface="Norwester"/>
                <a:cs typeface="Norwester"/>
                <a:sym typeface="Norwester"/>
              </a:rPr>
              <a:t>TEAM MEAMBERS:</a:t>
            </a:r>
          </a:p>
        </p:txBody>
      </p:sp>
      <p:sp>
        <p:nvSpPr>
          <p:cNvPr id="6" name="Freeform 6"/>
          <p:cNvSpPr/>
          <p:nvPr/>
        </p:nvSpPr>
        <p:spPr>
          <a:xfrm>
            <a:off x="15423002" y="1028700"/>
            <a:ext cx="1836298" cy="1863021"/>
          </a:xfrm>
          <a:custGeom>
            <a:avLst/>
            <a:gdLst/>
            <a:ahLst/>
            <a:cxnLst/>
            <a:rect l="l" t="t" r="r" b="b"/>
            <a:pathLst>
              <a:path w="1836298" h="1863021">
                <a:moveTo>
                  <a:pt x="0" y="0"/>
                </a:moveTo>
                <a:lnTo>
                  <a:pt x="1836298" y="0"/>
                </a:lnTo>
                <a:lnTo>
                  <a:pt x="1836298" y="1863021"/>
                </a:lnTo>
                <a:lnTo>
                  <a:pt x="0" y="1863021"/>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1028700" y="5143500"/>
            <a:ext cx="11656932" cy="3617238"/>
            <a:chOff x="0" y="0"/>
            <a:chExt cx="15542575" cy="4822984"/>
          </a:xfrm>
        </p:grpSpPr>
        <p:sp>
          <p:nvSpPr>
            <p:cNvPr id="8" name="TextBox 8"/>
            <p:cNvSpPr txBox="1"/>
            <p:nvPr/>
          </p:nvSpPr>
          <p:spPr>
            <a:xfrm>
              <a:off x="0" y="34793"/>
              <a:ext cx="7629710" cy="4788190"/>
            </a:xfrm>
            <a:prstGeom prst="rect">
              <a:avLst/>
            </a:prstGeom>
          </p:spPr>
          <p:txBody>
            <a:bodyPr lIns="0" tIns="0" rIns="0" bIns="0" rtlCol="0" anchor="t">
              <a:spAutoFit/>
            </a:bodyPr>
            <a:lstStyle/>
            <a:p>
              <a:pPr marL="686330" lvl="1" indent="-343165" algn="l">
                <a:lnSpc>
                  <a:spcPts val="4450"/>
                </a:lnSpc>
                <a:buFont typeface="Arial"/>
                <a:buChar char="•"/>
              </a:pPr>
              <a:r>
                <a:rPr lang="en-US" sz="3178" b="1" spc="-127">
                  <a:solidFill>
                    <a:srgbClr val="FFFFFF"/>
                  </a:solidFill>
                  <a:latin typeface="Helvetica World Bold"/>
                  <a:ea typeface="Helvetica World Bold"/>
                  <a:cs typeface="Helvetica World Bold"/>
                  <a:sym typeface="Helvetica World Bold"/>
                </a:rPr>
                <a:t>Mostafa Asaad Dwaba</a:t>
              </a:r>
            </a:p>
            <a:p>
              <a:pPr marL="686330" lvl="1" indent="-343165" algn="l">
                <a:lnSpc>
                  <a:spcPts val="4450"/>
                </a:lnSpc>
                <a:buFont typeface="Arial"/>
                <a:buChar char="•"/>
              </a:pPr>
              <a:r>
                <a:rPr lang="en-US" sz="3178" b="1" spc="-127">
                  <a:solidFill>
                    <a:srgbClr val="FFFFFF"/>
                  </a:solidFill>
                  <a:latin typeface="Helvetica World Bold"/>
                  <a:ea typeface="Helvetica World Bold"/>
                  <a:cs typeface="Helvetica World Bold"/>
                  <a:sym typeface="Helvetica World Bold"/>
                </a:rPr>
                <a:t>Mostafa Alaa Eldin Saad</a:t>
              </a:r>
            </a:p>
            <a:p>
              <a:pPr marL="686330" lvl="1" indent="-343165" algn="l">
                <a:lnSpc>
                  <a:spcPts val="4450"/>
                </a:lnSpc>
                <a:buFont typeface="Arial"/>
                <a:buChar char="•"/>
              </a:pPr>
              <a:r>
                <a:rPr lang="en-US" sz="3178" b="1" spc="-127">
                  <a:solidFill>
                    <a:srgbClr val="FFFFFF"/>
                  </a:solidFill>
                  <a:latin typeface="Helvetica World Bold"/>
                  <a:ea typeface="Helvetica World Bold"/>
                  <a:cs typeface="Helvetica World Bold"/>
                  <a:sym typeface="Helvetica World Bold"/>
                </a:rPr>
                <a:t>Moaz Hisham Dawood</a:t>
              </a:r>
            </a:p>
            <a:p>
              <a:pPr marL="686330" lvl="1" indent="-343165" algn="l">
                <a:lnSpc>
                  <a:spcPts val="4450"/>
                </a:lnSpc>
                <a:buFont typeface="Arial"/>
                <a:buChar char="•"/>
              </a:pPr>
              <a:r>
                <a:rPr lang="en-US" sz="3178" b="1" spc="-127">
                  <a:solidFill>
                    <a:srgbClr val="FFFFFF"/>
                  </a:solidFill>
                  <a:latin typeface="Helvetica World Bold"/>
                  <a:ea typeface="Helvetica World Bold"/>
                  <a:cs typeface="Helvetica World Bold"/>
                  <a:sym typeface="Helvetica World Bold"/>
                </a:rPr>
                <a:t>Malak Sherif Elmetwally </a:t>
              </a:r>
            </a:p>
            <a:p>
              <a:pPr marL="686330" lvl="1" indent="-343165" algn="l">
                <a:lnSpc>
                  <a:spcPts val="4450"/>
                </a:lnSpc>
                <a:buFont typeface="Arial"/>
                <a:buChar char="•"/>
              </a:pPr>
              <a:r>
                <a:rPr lang="en-US" sz="3178" b="1" spc="-127">
                  <a:solidFill>
                    <a:srgbClr val="FFFFFF"/>
                  </a:solidFill>
                  <a:latin typeface="Helvetica World Bold"/>
                  <a:ea typeface="Helvetica World Bold"/>
                  <a:cs typeface="Helvetica World Bold"/>
                  <a:sym typeface="Helvetica World Bold"/>
                </a:rPr>
                <a:t>Malak Abdelazim Abulmagd</a:t>
              </a:r>
            </a:p>
            <a:p>
              <a:pPr marL="686330" lvl="1" indent="-343165" algn="l">
                <a:lnSpc>
                  <a:spcPts val="4450"/>
                </a:lnSpc>
                <a:buFont typeface="Arial"/>
                <a:buChar char="•"/>
              </a:pPr>
              <a:r>
                <a:rPr lang="en-US" sz="3178" b="1" spc="-127">
                  <a:solidFill>
                    <a:srgbClr val="FFFFFF"/>
                  </a:solidFill>
                  <a:latin typeface="Helvetica World Bold"/>
                  <a:ea typeface="Helvetica World Bold"/>
                  <a:cs typeface="Helvetica World Bold"/>
                  <a:sym typeface="Helvetica World Bold"/>
                </a:rPr>
                <a:t>Hagar Ibrahim Mohamed</a:t>
              </a:r>
            </a:p>
          </p:txBody>
        </p:sp>
        <p:sp>
          <p:nvSpPr>
            <p:cNvPr id="9" name="TextBox 9"/>
            <p:cNvSpPr txBox="1"/>
            <p:nvPr/>
          </p:nvSpPr>
          <p:spPr>
            <a:xfrm>
              <a:off x="8093274" y="-57150"/>
              <a:ext cx="7449301" cy="4861497"/>
            </a:xfrm>
            <a:prstGeom prst="rect">
              <a:avLst/>
            </a:prstGeom>
          </p:spPr>
          <p:txBody>
            <a:bodyPr lIns="0" tIns="0" rIns="0" bIns="0" rtlCol="0" anchor="t">
              <a:spAutoFit/>
            </a:bodyPr>
            <a:lstStyle/>
            <a:p>
              <a:pPr marL="704774" lvl="1" indent="-352387" algn="l">
                <a:lnSpc>
                  <a:spcPts val="4570"/>
                </a:lnSpc>
                <a:buFont typeface="Arial"/>
                <a:buChar char="•"/>
              </a:pPr>
              <a:r>
                <a:rPr lang="en-US" sz="3264" b="1" spc="-130">
                  <a:solidFill>
                    <a:srgbClr val="FFFFFF"/>
                  </a:solidFill>
                  <a:latin typeface="Helvetica World Bold"/>
                  <a:ea typeface="Helvetica World Bold"/>
                  <a:cs typeface="Helvetica World Bold"/>
                  <a:sym typeface="Helvetica World Bold"/>
                </a:rPr>
                <a:t>Sec 41 Id: 1000324328</a:t>
              </a:r>
            </a:p>
            <a:p>
              <a:pPr marL="704774" lvl="1" indent="-352387" algn="l">
                <a:lnSpc>
                  <a:spcPts val="4570"/>
                </a:lnSpc>
                <a:buFont typeface="Arial"/>
                <a:buChar char="•"/>
              </a:pPr>
              <a:r>
                <a:rPr lang="en-US" sz="3264" b="1" spc="-130">
                  <a:solidFill>
                    <a:srgbClr val="FFFFFF"/>
                  </a:solidFill>
                  <a:latin typeface="Helvetica World Bold"/>
                  <a:ea typeface="Helvetica World Bold"/>
                  <a:cs typeface="Helvetica World Bold"/>
                  <a:sym typeface="Helvetica World Bold"/>
                </a:rPr>
                <a:t>Sec 41 Id: 1000324414</a:t>
              </a:r>
            </a:p>
            <a:p>
              <a:pPr marL="704774" lvl="1" indent="-352387" algn="l">
                <a:lnSpc>
                  <a:spcPts val="4570"/>
                </a:lnSpc>
                <a:buFont typeface="Arial"/>
                <a:buChar char="•"/>
              </a:pPr>
              <a:r>
                <a:rPr lang="en-US" sz="3264" b="1" spc="-130">
                  <a:solidFill>
                    <a:srgbClr val="FFFFFF"/>
                  </a:solidFill>
                  <a:latin typeface="Helvetica World Bold"/>
                  <a:ea typeface="Helvetica World Bold"/>
                  <a:cs typeface="Helvetica World Bold"/>
                  <a:sym typeface="Helvetica World Bold"/>
                </a:rPr>
                <a:t>Sec 42 Id: 1000324349</a:t>
              </a:r>
            </a:p>
            <a:p>
              <a:pPr marL="704774" lvl="1" indent="-352387" algn="l">
                <a:lnSpc>
                  <a:spcPts val="4570"/>
                </a:lnSpc>
                <a:buFont typeface="Arial"/>
                <a:buChar char="•"/>
              </a:pPr>
              <a:r>
                <a:rPr lang="en-US" sz="3264" b="1" spc="-130">
                  <a:solidFill>
                    <a:srgbClr val="FFFFFF"/>
                  </a:solidFill>
                  <a:latin typeface="Helvetica World Bold"/>
                  <a:ea typeface="Helvetica World Bold"/>
                  <a:cs typeface="Helvetica World Bold"/>
                  <a:sym typeface="Helvetica World Bold"/>
                </a:rPr>
                <a:t>Sec 42  Id: 1000337898</a:t>
              </a:r>
            </a:p>
            <a:p>
              <a:pPr marL="704774" lvl="1" indent="-352387" algn="l">
                <a:lnSpc>
                  <a:spcPts val="4570"/>
                </a:lnSpc>
                <a:buFont typeface="Arial"/>
                <a:buChar char="•"/>
              </a:pPr>
              <a:r>
                <a:rPr lang="en-US" sz="3264" b="1" spc="-130">
                  <a:solidFill>
                    <a:srgbClr val="FFFFFF"/>
                  </a:solidFill>
                  <a:latin typeface="Helvetica World Bold"/>
                  <a:ea typeface="Helvetica World Bold"/>
                  <a:cs typeface="Helvetica World Bold"/>
                  <a:sym typeface="Helvetica World Bold"/>
                </a:rPr>
                <a:t>Sec 42  Id: 1000324097</a:t>
              </a:r>
            </a:p>
            <a:p>
              <a:pPr marL="704774" lvl="1" indent="-352387" algn="l">
                <a:lnSpc>
                  <a:spcPts val="4570"/>
                </a:lnSpc>
                <a:buFont typeface="Arial"/>
                <a:buChar char="•"/>
              </a:pPr>
              <a:r>
                <a:rPr lang="en-US" sz="3264" b="1" spc="-130">
                  <a:solidFill>
                    <a:srgbClr val="FFFFFF"/>
                  </a:solidFill>
                  <a:latin typeface="Helvetica World Bold"/>
                  <a:ea typeface="Helvetica World Bold"/>
                  <a:cs typeface="Helvetica World Bold"/>
                  <a:sym typeface="Helvetica World Bold"/>
                </a:rPr>
                <a:t>Sec 44 Id: 1000324575</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216</Words>
  <Application>Microsoft Office PowerPoint</Application>
  <PresentationFormat>Custom</PresentationFormat>
  <Paragraphs>24</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Andalus</vt:lpstr>
      <vt:lpstr>Helvetica World Bold</vt:lpstr>
      <vt:lpstr>Helvetica World</vt:lpstr>
      <vt:lpstr>Calibri</vt:lpstr>
      <vt:lpstr>Norwester</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Black Modern Technology Presentation</dc:title>
  <cp:lastModifiedBy>Mostafa Asaad Dawaba</cp:lastModifiedBy>
  <cp:revision>2</cp:revision>
  <dcterms:created xsi:type="dcterms:W3CDTF">2006-08-16T00:00:00Z</dcterms:created>
  <dcterms:modified xsi:type="dcterms:W3CDTF">2026-04-28T18:36:58Z</dcterms:modified>
  <dc:identifier>DAHIGI44FC4</dc:identifier>
</cp:coreProperties>
</file>